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5" r:id="rId9"/>
    <p:sldId id="266" r:id="rId10"/>
    <p:sldId id="277" r:id="rId11"/>
    <p:sldId id="278" r:id="rId12"/>
    <p:sldId id="279" r:id="rId13"/>
    <p:sldId id="267" r:id="rId14"/>
    <p:sldId id="268" r:id="rId15"/>
    <p:sldId id="280" r:id="rId16"/>
    <p:sldId id="281" r:id="rId17"/>
    <p:sldId id="274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6" d="100"/>
          <a:sy n="106" d="100"/>
        </p:scale>
        <p:origin x="204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D7DE-4B20-F07A-B3C3-6057FDEBB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A0303-4C25-6C26-6F36-E15D28A7A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8ED93-4546-A5C4-80D9-B9382D252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BC04D-6B99-E2BC-5551-95A7A1B5A44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2060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FE0DC-3C19-E4AA-3F3E-DADF7221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CDC0C-206D-86B9-9A97-579A4B8F5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D64F8-3C89-D8B9-0867-CF57C3263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FB7F7-162A-314A-1262-ACA5A333FCA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179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DC7E9-1202-E3AB-9C54-546971C5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0EB6B-A1A7-31C3-D903-FF9903556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F16B3-3CA8-F873-74CC-16C32E5BB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1043-C849-81A3-30F0-A2B35E5692E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4349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1275-D146-0734-EBF7-E3B90CFAE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613C6-E788-BF02-99A3-38665A75B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542E1-5C42-F224-F82E-8013E9A4E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9B292-B887-11EE-DB88-0422262AD6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331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0834D-6C3A-806F-4BB3-516FCDA5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BF2C0-A8A2-99D5-1EC3-9048FDBCC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B2201-6680-A8DC-6DB5-4A3D3BAAC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4F81B-9BA3-2FC3-A1B4-6E97B5E271E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5279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5DB9-1313-4487-9FA2-6058BB466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6B69D-ECCA-FB88-0A62-7C586AB40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EDDA4-117E-2164-D6CD-9A2D17E79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1EDFD-2455-90A2-8FC6-5A4B68ABB93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04858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6CBDE4D-C3B0-4946-BDDE-15766B8107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257800" cy="6858000"/>
          </a:xfrm>
          <a:prstGeom prst="rect">
            <a:avLst/>
          </a:prstGeom>
          <a:solidFill>
            <a:srgbClr val="102033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461988-6D6C-4321-B62D-DBCC5300E9E2}"/>
              </a:ext>
            </a:extLst>
          </p:cNvPr>
          <p:cNvSpPr>
            <a:spLocks noGrp="1"/>
          </p:cNvSpPr>
          <p:nvPr/>
        </p:nvSpPr>
        <p:spPr>
          <a:xfrm>
            <a:off x="5257800" y="0"/>
            <a:ext cx="819150" cy="6858000"/>
          </a:xfrm>
          <a:prstGeom prst="rect">
            <a:avLst/>
          </a:prstGeom>
          <a:solidFill>
            <a:srgbClr val="0F6F85"/>
          </a:solidFill>
          <a:ln w="0">
            <a:noFill/>
            <a:prstDash val="solid"/>
          </a:ln>
        </p:spPr>
        <p:txBody>
          <a:bodyPr/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F1D2BD7-EB30-4E6A-B717-DC6FE26F6A5F}"/>
              </a:ext>
            </a:extLst>
          </p:cNvPr>
          <p:cNvSpPr>
            <a:spLocks noGrp="1"/>
          </p:cNvSpPr>
          <p:nvPr/>
        </p:nvSpPr>
        <p:spPr>
          <a:xfrm>
            <a:off x="742950" y="838200"/>
            <a:ext cx="704850" cy="704850"/>
          </a:xfrm>
          <a:prstGeom prst="roundRect">
            <a:avLst>
              <a:gd name="adj" fmla="val 16216"/>
            </a:avLst>
          </a:prstGeom>
          <a:solidFill>
            <a:srgbClr val="36C7D6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F17F30-7A70-4C86-8381-FA71B9AB5684}"/>
              </a:ext>
            </a:extLst>
          </p:cNvPr>
          <p:cNvSpPr>
            <a:spLocks noGrp="1"/>
          </p:cNvSpPr>
          <p:nvPr/>
        </p:nvSpPr>
        <p:spPr>
          <a:xfrm>
            <a:off x="990600" y="971550"/>
            <a:ext cx="304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924C1F-C209-4C59-B5C4-54B2B39C5181}"/>
              </a:ext>
            </a:extLst>
          </p:cNvPr>
          <p:cNvSpPr>
            <a:spLocks noGrp="1"/>
          </p:cNvSpPr>
          <p:nvPr/>
        </p:nvSpPr>
        <p:spPr>
          <a:xfrm>
            <a:off x="1676400" y="838200"/>
            <a:ext cx="333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SynapseQ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8A8E12-0F0C-4716-A7ED-0F2B3DEA573C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>
                <a:solidFill>
                  <a:srgbClr val="BBD5E1"/>
                </a:solidFill>
              </a:defRPr>
            </a:pPr>
            <a:r>
              <a:rPr sz="1575" b="0">
                <a:solidFill>
                  <a:srgbClr val="BBD5E1"/>
                </a:solidFill>
              </a:rPr>
              <a:t>同济大学 AI 校园问答系统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51BE00-E1B8-4727-BF3D-D08F3CEEA25F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期末项目验收答辩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7F3E15-FB0A-4B2E-9713-44D6DFB14578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9FB7C8"/>
                </a:solidFill>
              </a:defRPr>
            </a:pPr>
            <a:r>
              <a:rPr sz="1350" b="0">
                <a:solidFill>
                  <a:srgbClr val="9FB7C8"/>
                </a:solidFill>
              </a:rPr>
              <a:t>Campus RAG Assistant · Final Review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F461A18-5872-44E0-9FAD-0FF0696E4D4C}"/>
              </a:ext>
            </a:extLst>
          </p:cNvPr>
          <p:cNvSpPr>
            <a:spLocks noGrp="1"/>
          </p:cNvSpPr>
          <p:nvPr/>
        </p:nvSpPr>
        <p:spPr>
          <a:xfrm>
            <a:off x="6762750" y="1123950"/>
            <a:ext cx="400050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E16B91-B713-433C-AF7C-16EA6CA2E063}"/>
              </a:ext>
            </a:extLst>
          </p:cNvPr>
          <p:cNvSpPr>
            <a:spLocks noGrp="1"/>
          </p:cNvSpPr>
          <p:nvPr/>
        </p:nvSpPr>
        <p:spPr>
          <a:xfrm>
            <a:off x="7334250" y="1524000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>
                <a:solidFill>
                  <a:srgbClr val="11879A"/>
                </a:solidFill>
              </a:defRPr>
            </a:pPr>
            <a:r>
              <a:rPr sz="4800" b="1">
                <a:solidFill>
                  <a:srgbClr val="11879A"/>
                </a:solidFill>
              </a:rPr>
              <a:t>RAG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356EAF-985F-498B-8880-5DE74C1BCF3B}"/>
              </a:ext>
            </a:extLst>
          </p:cNvPr>
          <p:cNvSpPr>
            <a:spLocks noGrp="1"/>
          </p:cNvSpPr>
          <p:nvPr/>
        </p:nvSpPr>
        <p:spPr>
          <a:xfrm>
            <a:off x="7286625" y="2400300"/>
            <a:ext cx="2857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LLM 意图路由</a:t>
            </a:r>
          </a:p>
          <a:p>
            <a:pPr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资料来源追溯</a:t>
            </a:r>
          </a:p>
          <a:p>
            <a:pPr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权限分级隔离</a:t>
            </a:r>
          </a:p>
          <a:p>
            <a:pPr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管理员知识维护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2595D3A-EEFF-4EEC-815B-77A255F8023A}"/>
              </a:ext>
            </a:extLst>
          </p:cNvPr>
          <p:cNvSpPr>
            <a:spLocks noGrp="1"/>
          </p:cNvSpPr>
          <p:nvPr/>
        </p:nvSpPr>
        <p:spPr>
          <a:xfrm>
            <a:off x="7296150" y="4038600"/>
            <a:ext cx="1524000" cy="323850"/>
          </a:xfrm>
          <a:prstGeom prst="roundRect">
            <a:avLst>
              <a:gd name="adj" fmla="val 23529"/>
            </a:avLst>
          </a:prstGeom>
          <a:solidFill>
            <a:srgbClr val="E6FAF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A0B86A-BD3A-4B5A-BBC8-96F10D8A2FBC}"/>
              </a:ext>
            </a:extLst>
          </p:cNvPr>
          <p:cNvSpPr>
            <a:spLocks noGrp="1"/>
          </p:cNvSpPr>
          <p:nvPr/>
        </p:nvSpPr>
        <p:spPr>
          <a:xfrm>
            <a:off x="7448550" y="4095750"/>
            <a:ext cx="1352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11879A"/>
                </a:solidFill>
              </a:defRPr>
            </a:pPr>
            <a:r>
              <a:rPr sz="1050" b="1">
                <a:solidFill>
                  <a:srgbClr val="11879A"/>
                </a:solidFill>
              </a:rPr>
              <a:t>访客 / 师生 / 管理员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FB556A-481D-4D6B-A118-94B6B4DE3524}"/>
              </a:ext>
            </a:extLst>
          </p:cNvPr>
          <p:cNvSpPr>
            <a:spLocks noGrp="1"/>
          </p:cNvSpPr>
          <p:nvPr/>
        </p:nvSpPr>
        <p:spPr>
          <a:xfrm>
            <a:off x="8972550" y="4038600"/>
            <a:ext cx="1352550" cy="323850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2642DF-5CD0-462C-AF6C-F0DF76F1B92F}"/>
              </a:ext>
            </a:extLst>
          </p:cNvPr>
          <p:cNvSpPr>
            <a:spLocks noGrp="1"/>
          </p:cNvSpPr>
          <p:nvPr/>
        </p:nvSpPr>
        <p:spPr>
          <a:xfrm>
            <a:off x="9124950" y="4095750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FastAPI + Vue3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850941-F146-4464-9973-2FB563EF2E06}"/>
              </a:ext>
            </a:extLst>
          </p:cNvPr>
          <p:cNvSpPr>
            <a:spLocks noGrp="1"/>
          </p:cNvSpPr>
          <p:nvPr/>
        </p:nvSpPr>
        <p:spPr>
          <a:xfrm>
            <a:off x="781050" y="57531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BBD5E1"/>
                </a:solidFill>
              </a:defRPr>
            </a:pPr>
            <a:r>
              <a:rPr sz="1350" b="0" dirty="0" err="1">
                <a:solidFill>
                  <a:srgbClr val="BBD5E1"/>
                </a:solidFill>
              </a:rPr>
              <a:t>汇报人</a:t>
            </a:r>
            <a:r>
              <a:rPr sz="1350" b="0" dirty="0">
                <a:solidFill>
                  <a:srgbClr val="BBD5E1"/>
                </a:solidFill>
              </a:rPr>
              <a:t>：</a:t>
            </a:r>
            <a:r>
              <a:rPr lang="zh-CN" altLang="en-US" sz="1350" dirty="0">
                <a:solidFill>
                  <a:srgbClr val="BBD5E1"/>
                </a:solidFill>
              </a:rPr>
              <a:t>李宇轩 </a:t>
            </a:r>
            <a:r>
              <a:rPr lang="en-US" altLang="zh-CN" sz="1350" dirty="0">
                <a:solidFill>
                  <a:srgbClr val="BBD5E1"/>
                </a:solidFill>
              </a:rPr>
              <a:t>2353737</a:t>
            </a:r>
            <a:endParaRPr sz="1350" b="0" dirty="0">
              <a:solidFill>
                <a:srgbClr val="BBD5E1"/>
              </a:solidFill>
            </a:endParaRPr>
          </a:p>
          <a:p>
            <a:pPr>
              <a:defRPr sz="1350" b="0">
                <a:solidFill>
                  <a:srgbClr val="BBD5E1"/>
                </a:solidFill>
              </a:defRPr>
            </a:pPr>
            <a:r>
              <a:rPr sz="1350" b="0" dirty="0">
                <a:solidFill>
                  <a:srgbClr val="BBD5E1"/>
                </a:solidFill>
              </a:rPr>
              <a:t>2026 年 6 月</a:t>
            </a:r>
          </a:p>
        </p:txBody>
      </p:sp>
    </p:spTree>
    <p:extLst>
      <p:ext uri="{BB962C8B-B14F-4D97-AF65-F5344CB8AC3E}">
        <p14:creationId xmlns:p14="http://schemas.microsoft.com/office/powerpoint/2010/main" val="144122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BD5FB8AB-F597-4D70-B1B8-4A7F87D4D177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>
                <a:solidFill>
                  <a:srgbClr val="11879A"/>
                </a:solidFill>
              </a:rPr>
              <a:t>00  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356758-BE42-4075-AB00-1F52E7CCBA17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汇报目录与章节安排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2E7275-7940-40A8-B052-B6BE60A6C934}"/>
              </a:ext>
            </a:extLst>
          </p:cNvPr>
          <p:cNvSpPr>
            <a:spLocks noGrp="1"/>
          </p:cNvSpPr>
          <p:nvPr/>
        </p:nvSpPr>
        <p:spPr>
          <a:xfrm>
            <a:off x="590550" y="10096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8292A6"/>
                </a:solidFill>
              </a:defRPr>
            </a:pPr>
            <a:r>
              <a:rPr sz="1125" b="0">
                <a:solidFill>
                  <a:srgbClr val="8292A6"/>
                </a:solidFill>
              </a:rPr>
              <a:t>Agenda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F1B77C-D812-4A74-A48E-366CAE1AF09E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>
                <a:solidFill>
                  <a:srgbClr val="8292A6"/>
                </a:solidFill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E58BFC-FB9F-424D-85A8-F97E734B1C45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157987-89EE-489E-BF35-409B2739D430}"/>
              </a:ext>
            </a:extLst>
          </p:cNvPr>
          <p:cNvSpPr>
            <a:spLocks noGrp="1"/>
          </p:cNvSpPr>
          <p:nvPr/>
        </p:nvSpPr>
        <p:spPr>
          <a:xfrm>
            <a:off x="1135981" y="1983706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879A"/>
                </a:solidFill>
              </a:defRPr>
            </a:pPr>
            <a:r>
              <a:rPr sz="2100" b="1" dirty="0">
                <a:solidFill>
                  <a:srgbClr val="11879A"/>
                </a:solidFill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6DCCC5-BE00-4278-9468-8362E900430F}"/>
              </a:ext>
            </a:extLst>
          </p:cNvPr>
          <p:cNvSpPr>
            <a:spLocks noGrp="1"/>
          </p:cNvSpPr>
          <p:nvPr/>
        </p:nvSpPr>
        <p:spPr>
          <a:xfrm>
            <a:off x="1897981" y="1983706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</a:defRPr>
            </a:pPr>
            <a:r>
              <a:rPr sz="1800" b="1" dirty="0" err="1">
                <a:solidFill>
                  <a:srgbClr val="102033"/>
                </a:solidFill>
              </a:rPr>
              <a:t>项目背景与目标</a:t>
            </a:r>
            <a:endParaRPr sz="1800" b="1" dirty="0">
              <a:solidFill>
                <a:srgbClr val="102033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0748D8-D3BE-41B8-AEE8-A12C0ADC2747}"/>
              </a:ext>
            </a:extLst>
          </p:cNvPr>
          <p:cNvSpPr>
            <a:spLocks noGrp="1"/>
          </p:cNvSpPr>
          <p:nvPr/>
        </p:nvSpPr>
        <p:spPr>
          <a:xfrm>
            <a:off x="1116931" y="2517106"/>
            <a:ext cx="95250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E3BD65-93B9-4915-82B2-3E4830532470}"/>
              </a:ext>
            </a:extLst>
          </p:cNvPr>
          <p:cNvSpPr>
            <a:spLocks noGrp="1"/>
          </p:cNvSpPr>
          <p:nvPr/>
        </p:nvSpPr>
        <p:spPr>
          <a:xfrm>
            <a:off x="1135981" y="2764756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879A"/>
                </a:solidFill>
              </a:defRPr>
            </a:pPr>
            <a:r>
              <a:rPr sz="2100" b="1">
                <a:solidFill>
                  <a:srgbClr val="11879A"/>
                </a:solidFill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BDC066-461E-46EE-9135-CEC0D9B9950A}"/>
              </a:ext>
            </a:extLst>
          </p:cNvPr>
          <p:cNvSpPr>
            <a:spLocks noGrp="1"/>
          </p:cNvSpPr>
          <p:nvPr/>
        </p:nvSpPr>
        <p:spPr>
          <a:xfrm>
            <a:off x="1897981" y="2764756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技术实现与数据流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3162C6-4B12-4309-BD94-4B408FCBEA77}"/>
              </a:ext>
            </a:extLst>
          </p:cNvPr>
          <p:cNvSpPr>
            <a:spLocks noGrp="1"/>
          </p:cNvSpPr>
          <p:nvPr/>
        </p:nvSpPr>
        <p:spPr>
          <a:xfrm>
            <a:off x="1116931" y="3298156"/>
            <a:ext cx="95250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B63CE2-AA28-4E0E-A9DD-C3ADEDB8A02B}"/>
              </a:ext>
            </a:extLst>
          </p:cNvPr>
          <p:cNvSpPr>
            <a:spLocks noGrp="1"/>
          </p:cNvSpPr>
          <p:nvPr/>
        </p:nvSpPr>
        <p:spPr>
          <a:xfrm>
            <a:off x="1135981" y="3545806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879A"/>
                </a:solidFill>
              </a:defRPr>
            </a:pPr>
            <a:r>
              <a:rPr sz="2100" b="1">
                <a:solidFill>
                  <a:srgbClr val="11879A"/>
                </a:solidFill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A8F6CA-C1A5-4E34-8C12-5A9EE8F7619D}"/>
              </a:ext>
            </a:extLst>
          </p:cNvPr>
          <p:cNvSpPr>
            <a:spLocks noGrp="1"/>
          </p:cNvSpPr>
          <p:nvPr/>
        </p:nvSpPr>
        <p:spPr>
          <a:xfrm>
            <a:off x="1897981" y="3545806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功能用例与业务流程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6F8EF7-6C58-4BDB-A60A-605FCA5FA261}"/>
              </a:ext>
            </a:extLst>
          </p:cNvPr>
          <p:cNvSpPr>
            <a:spLocks noGrp="1"/>
          </p:cNvSpPr>
          <p:nvPr/>
        </p:nvSpPr>
        <p:spPr>
          <a:xfrm>
            <a:off x="1116931" y="4079206"/>
            <a:ext cx="95250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B65770-9D4B-4AB8-B06D-A946309D1909}"/>
              </a:ext>
            </a:extLst>
          </p:cNvPr>
          <p:cNvSpPr>
            <a:spLocks noGrp="1"/>
          </p:cNvSpPr>
          <p:nvPr/>
        </p:nvSpPr>
        <p:spPr>
          <a:xfrm>
            <a:off x="1135981" y="4326856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879A"/>
                </a:solidFill>
              </a:defRPr>
            </a:pPr>
            <a:r>
              <a:rPr sz="2100" b="1">
                <a:solidFill>
                  <a:srgbClr val="11879A"/>
                </a:solidFill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91B973B-ABAE-4111-9FE1-62D7895E8114}"/>
              </a:ext>
            </a:extLst>
          </p:cNvPr>
          <p:cNvSpPr>
            <a:spLocks noGrp="1"/>
          </p:cNvSpPr>
          <p:nvPr/>
        </p:nvSpPr>
        <p:spPr>
          <a:xfrm>
            <a:off x="1897981" y="4326856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</a:defRPr>
            </a:pPr>
            <a:r>
              <a:rPr lang="en-US" altLang="zh-CN" b="1" dirty="0">
                <a:solidFill>
                  <a:srgbClr val="102033"/>
                </a:solidFill>
              </a:rPr>
              <a:t>AI</a:t>
            </a:r>
            <a:r>
              <a:rPr lang="zh-CN" altLang="en-US" b="1" dirty="0">
                <a:solidFill>
                  <a:srgbClr val="102033"/>
                </a:solidFill>
              </a:rPr>
              <a:t>使用心得</a:t>
            </a:r>
            <a:endParaRPr sz="1800" b="1" dirty="0">
              <a:solidFill>
                <a:srgbClr val="102033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6EA5CB-80D0-4769-9247-D64622DC5A88}"/>
              </a:ext>
            </a:extLst>
          </p:cNvPr>
          <p:cNvSpPr>
            <a:spLocks noGrp="1"/>
          </p:cNvSpPr>
          <p:nvPr/>
        </p:nvSpPr>
        <p:spPr>
          <a:xfrm>
            <a:off x="1116931" y="4860256"/>
            <a:ext cx="95250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CA4D3B-9289-E96F-B318-149D5E570B16}"/>
              </a:ext>
            </a:extLst>
          </p:cNvPr>
          <p:cNvSpPr>
            <a:spLocks noGrp="1"/>
          </p:cNvSpPr>
          <p:nvPr/>
        </p:nvSpPr>
        <p:spPr>
          <a:xfrm>
            <a:off x="1155031" y="50387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1879A"/>
                </a:solidFill>
              </a:defRPr>
            </a:pPr>
            <a:r>
              <a:rPr sz="2100" b="1" dirty="0">
                <a:solidFill>
                  <a:srgbClr val="11879A"/>
                </a:solidFill>
              </a:rPr>
              <a:t>0</a:t>
            </a:r>
            <a:r>
              <a:rPr lang="en-US" sz="2100" b="1" dirty="0">
                <a:solidFill>
                  <a:srgbClr val="11879A"/>
                </a:solidFill>
              </a:rPr>
              <a:t>5</a:t>
            </a:r>
            <a:endParaRPr sz="2100" b="1" dirty="0">
              <a:solidFill>
                <a:srgbClr val="11879A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900B83-CB78-9D5D-6060-CAF2F0915DB7}"/>
              </a:ext>
            </a:extLst>
          </p:cNvPr>
          <p:cNvSpPr>
            <a:spLocks noGrp="1"/>
          </p:cNvSpPr>
          <p:nvPr/>
        </p:nvSpPr>
        <p:spPr>
          <a:xfrm>
            <a:off x="1917031" y="50387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02033"/>
                </a:solidFill>
              </a:defRPr>
            </a:pPr>
            <a:r>
              <a:rPr sz="1800" b="1" dirty="0" err="1">
                <a:solidFill>
                  <a:srgbClr val="102033"/>
                </a:solidFill>
              </a:rPr>
              <a:t>演示</a:t>
            </a:r>
            <a:endParaRPr sz="1800" b="1" dirty="0">
              <a:solidFill>
                <a:srgbClr val="102033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719ECC-F658-7BC9-BBB7-A2B01090E9CA}"/>
              </a:ext>
            </a:extLst>
          </p:cNvPr>
          <p:cNvSpPr>
            <a:spLocks noGrp="1"/>
          </p:cNvSpPr>
          <p:nvPr/>
        </p:nvSpPr>
        <p:spPr>
          <a:xfrm>
            <a:off x="1135981" y="5572125"/>
            <a:ext cx="95250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20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5B9649F-B4CC-44FF-8529-CBB0AA524E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0F6F8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B4BD5B-8E09-47A8-99F0-1A685F9E6CCA}"/>
              </a:ext>
            </a:extLst>
          </p:cNvPr>
          <p:cNvSpPr>
            <a:spLocks noGrp="1"/>
          </p:cNvSpPr>
          <p:nvPr/>
        </p:nvSpPr>
        <p:spPr>
          <a:xfrm>
            <a:off x="819150" y="876300"/>
            <a:ext cx="171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0" b="1">
                <a:solidFill>
                  <a:srgbClr val="36C7D6"/>
                </a:solidFill>
              </a:defRPr>
            </a:pPr>
            <a:r>
              <a:rPr sz="5400" b="1">
                <a:solidFill>
                  <a:srgbClr val="36C7D6"/>
                </a:solidFill>
              </a:rPr>
              <a:t>01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13DB01-B5B2-45B0-B9DF-9A5C938FE6D1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590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项目背景与目标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6D98E0-DAD2-4379-941C-C3C1743970D3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BBD5E1"/>
                </a:solidFill>
              </a:defRPr>
            </a:pPr>
            <a:r>
              <a:rPr sz="1275" b="0">
                <a:solidFill>
                  <a:srgbClr val="BBD5E1"/>
                </a:solidFill>
              </a:rPr>
              <a:t>SynapseQ Final Review</a:t>
            </a:r>
          </a:p>
        </p:txBody>
      </p:sp>
    </p:spTree>
    <p:extLst>
      <p:ext uri="{BB962C8B-B14F-4D97-AF65-F5344CB8AC3E}">
        <p14:creationId xmlns:p14="http://schemas.microsoft.com/office/powerpoint/2010/main" val="131348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EB68AE7-96C7-4830-B494-F8039FCA0F82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>
                <a:solidFill>
                  <a:srgbClr val="11879A"/>
                </a:solidFill>
              </a:rPr>
              <a:t>01  项目背景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AD5340-2EBA-41C8-B79C-B2E2DAF8518E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为什么需要校园垂直问答系统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029262-6037-4629-A860-9C49C5B7FBDF}"/>
              </a:ext>
            </a:extLst>
          </p:cNvPr>
          <p:cNvSpPr>
            <a:spLocks noGrp="1"/>
          </p:cNvSpPr>
          <p:nvPr/>
        </p:nvSpPr>
        <p:spPr>
          <a:xfrm>
            <a:off x="590550" y="10096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8292A6"/>
                </a:solidFill>
              </a:defRPr>
            </a:pPr>
            <a:r>
              <a:rPr sz="1125" b="0">
                <a:solidFill>
                  <a:srgbClr val="8292A6"/>
                </a:solidFill>
              </a:rPr>
              <a:t>Background &amp; Motivation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09091A-33A2-4BBF-A521-3125DC5F5A31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>
                <a:solidFill>
                  <a:srgbClr val="8292A6"/>
                </a:solidFill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7EEA08-C313-4911-8756-46D96CD82FF6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89E23E9-07F3-4304-B7BA-71CD3194CE6E}"/>
              </a:ext>
            </a:extLst>
          </p:cNvPr>
          <p:cNvSpPr>
            <a:spLocks noGrp="1"/>
          </p:cNvSpPr>
          <p:nvPr/>
        </p:nvSpPr>
        <p:spPr>
          <a:xfrm>
            <a:off x="704850" y="1733550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16C62E-42F5-41F9-A106-D4475D0C04F7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D2465F-0417-41B6-A69C-4300922B943F}"/>
              </a:ext>
            </a:extLst>
          </p:cNvPr>
          <p:cNvSpPr>
            <a:spLocks noGrp="1"/>
          </p:cNvSpPr>
          <p:nvPr/>
        </p:nvSpPr>
        <p:spPr>
          <a:xfrm>
            <a:off x="1676400" y="1987446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 dirty="0" err="1">
                <a:solidFill>
                  <a:srgbClr val="102033"/>
                </a:solidFill>
              </a:rPr>
              <a:t>信息分散</a:t>
            </a:r>
            <a:endParaRPr sz="1575" b="1" dirty="0">
              <a:solidFill>
                <a:srgbClr val="102033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410FA5-BF36-4EEC-AB4E-53E354697BB2}"/>
              </a:ext>
            </a:extLst>
          </p:cNvPr>
          <p:cNvSpPr>
            <a:spLocks noGrp="1"/>
          </p:cNvSpPr>
          <p:nvPr/>
        </p:nvSpPr>
        <p:spPr>
          <a:xfrm>
            <a:off x="933450" y="2419350"/>
            <a:ext cx="2705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通知、官网文章、FAQ 与个人业务数据分布在多个系统中，用户需要反复切换入口。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3B565C7-DFD5-4D30-BC7D-8648676153B3}"/>
              </a:ext>
            </a:extLst>
          </p:cNvPr>
          <p:cNvSpPr>
            <a:spLocks noGrp="1"/>
          </p:cNvSpPr>
          <p:nvPr/>
        </p:nvSpPr>
        <p:spPr>
          <a:xfrm>
            <a:off x="4514850" y="1733550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9B1F5E-0083-457E-A791-D6B0406F2BA3}"/>
              </a:ext>
            </a:extLst>
          </p:cNvPr>
          <p:cNvSpPr>
            <a:spLocks noGrp="1"/>
          </p:cNvSpPr>
          <p:nvPr/>
        </p:nvSpPr>
        <p:spPr>
          <a:xfrm>
            <a:off x="4743450" y="19431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9CC24C-4685-4383-8F02-D0E10B19C100}"/>
              </a:ext>
            </a:extLst>
          </p:cNvPr>
          <p:cNvSpPr>
            <a:spLocks noGrp="1"/>
          </p:cNvSpPr>
          <p:nvPr/>
        </p:nvSpPr>
        <p:spPr>
          <a:xfrm>
            <a:off x="5495925" y="1987446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 dirty="0" err="1">
                <a:solidFill>
                  <a:srgbClr val="102033"/>
                </a:solidFill>
              </a:rPr>
              <a:t>回答可信度不足</a:t>
            </a:r>
            <a:endParaRPr sz="1575" b="1" dirty="0">
              <a:solidFill>
                <a:srgbClr val="102033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6F74D0-679D-41FE-8417-8305EE2E16F4}"/>
              </a:ext>
            </a:extLst>
          </p:cNvPr>
          <p:cNvSpPr>
            <a:spLocks noGrp="1"/>
          </p:cNvSpPr>
          <p:nvPr/>
        </p:nvSpPr>
        <p:spPr>
          <a:xfrm>
            <a:off x="4743450" y="2419350"/>
            <a:ext cx="2705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通用大模型容易给出泛化回答，校园场景要求能说明“答案从哪里来”。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682D3FE-132F-48F1-A3FF-7F9383FE2D6F}"/>
              </a:ext>
            </a:extLst>
          </p:cNvPr>
          <p:cNvSpPr>
            <a:spLocks noGrp="1"/>
          </p:cNvSpPr>
          <p:nvPr/>
        </p:nvSpPr>
        <p:spPr>
          <a:xfrm>
            <a:off x="8324850" y="1733550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5CC5D1-75C3-4F68-9209-10551C6C635F}"/>
              </a:ext>
            </a:extLst>
          </p:cNvPr>
          <p:cNvSpPr>
            <a:spLocks noGrp="1"/>
          </p:cNvSpPr>
          <p:nvPr/>
        </p:nvSpPr>
        <p:spPr>
          <a:xfrm>
            <a:off x="8553450" y="19431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EC0026-E023-4936-8B61-3DDBF3F0B9DC}"/>
              </a:ext>
            </a:extLst>
          </p:cNvPr>
          <p:cNvSpPr>
            <a:spLocks noGrp="1"/>
          </p:cNvSpPr>
          <p:nvPr/>
        </p:nvSpPr>
        <p:spPr>
          <a:xfrm>
            <a:off x="9296400" y="2013610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 dirty="0" err="1">
                <a:solidFill>
                  <a:srgbClr val="102033"/>
                </a:solidFill>
              </a:rPr>
              <a:t>权限边界敏感</a:t>
            </a:r>
            <a:endParaRPr sz="1575" b="1" dirty="0">
              <a:solidFill>
                <a:srgbClr val="102033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5D0D20-4D9F-4539-BB36-87AA6558E1B2}"/>
              </a:ext>
            </a:extLst>
          </p:cNvPr>
          <p:cNvSpPr>
            <a:spLocks noGrp="1"/>
          </p:cNvSpPr>
          <p:nvPr/>
        </p:nvSpPr>
        <p:spPr>
          <a:xfrm>
            <a:off x="8553450" y="2419350"/>
            <a:ext cx="2705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公开资料、校内资料与个人档案必须按身份隔离，不能因为检索相似就越权返回。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984B38A-FC02-49D3-A989-DCCAA6052C6A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10439400" cy="1066800"/>
          </a:xfrm>
          <a:prstGeom prst="roundRect">
            <a:avLst>
              <a:gd name="adj" fmla="val 7143"/>
            </a:avLst>
          </a:prstGeom>
          <a:solidFill>
            <a:srgbClr val="102033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2F325F-9F86-45A1-AF6D-81ECB6BD2577}"/>
              </a:ext>
            </a:extLst>
          </p:cNvPr>
          <p:cNvSpPr>
            <a:spLocks noGrp="1"/>
          </p:cNvSpPr>
          <p:nvPr/>
        </p:nvSpPr>
        <p:spPr>
          <a:xfrm>
            <a:off x="1200150" y="46482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项目目标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D98A76-46A4-48F1-BBFD-87E98D39DD4D}"/>
              </a:ext>
            </a:extLst>
          </p:cNvPr>
          <p:cNvSpPr>
            <a:spLocks noGrp="1"/>
          </p:cNvSpPr>
          <p:nvPr/>
        </p:nvSpPr>
        <p:spPr>
          <a:xfrm>
            <a:off x="2724150" y="4610100"/>
            <a:ext cx="771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DDEAF1"/>
                </a:solidFill>
              </a:defRPr>
            </a:pPr>
            <a:r>
              <a:rPr sz="1500" b="0">
                <a:solidFill>
                  <a:srgbClr val="DDEAF1"/>
                </a:solidFill>
              </a:rPr>
              <a:t>把“找资料、问流程、查个人信息、维护知识库”整合到统一对话入口中，并通过 RAG、权限控制和来源追溯提升校园问答的可信度。</a:t>
            </a:r>
          </a:p>
        </p:txBody>
      </p:sp>
    </p:spTree>
    <p:extLst>
      <p:ext uri="{BB962C8B-B14F-4D97-AF65-F5344CB8AC3E}">
        <p14:creationId xmlns:p14="http://schemas.microsoft.com/office/powerpoint/2010/main" val="1388876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E61DD7E-45D9-461A-8D88-A657EABE8486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>
                <a:solidFill>
                  <a:srgbClr val="11879A"/>
                </a:solidFill>
              </a:rPr>
              <a:t>01  用户与权限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9597F3-1464-4DC4-A363-8EE1E606401E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三类身份与资料访问范围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FB2DD9-7BB3-45B7-9D20-1DA33BD35CAC}"/>
              </a:ext>
            </a:extLst>
          </p:cNvPr>
          <p:cNvSpPr>
            <a:spLocks noGrp="1"/>
          </p:cNvSpPr>
          <p:nvPr/>
        </p:nvSpPr>
        <p:spPr>
          <a:xfrm>
            <a:off x="590550" y="10096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8292A6"/>
                </a:solidFill>
              </a:defRPr>
            </a:pPr>
            <a:r>
              <a:rPr sz="1125" b="0">
                <a:solidFill>
                  <a:srgbClr val="8292A6"/>
                </a:solidFill>
              </a:rPr>
              <a:t>Users, Roles &amp; Access Control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AF06E1-6956-4324-B6A5-BFD18920A618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>
                <a:solidFill>
                  <a:srgbClr val="8292A6"/>
                </a:solidFill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AF42D-12C6-4E85-9B90-1ADFC6BDB88D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F207C37-CC3A-4AB7-B0F6-99AE0F634445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3238500" cy="2333625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A282B7-D689-45CF-BF5C-8E261FAF12DC}"/>
              </a:ext>
            </a:extLst>
          </p:cNvPr>
          <p:cNvSpPr>
            <a:spLocks noGrp="1"/>
          </p:cNvSpPr>
          <p:nvPr/>
        </p:nvSpPr>
        <p:spPr>
          <a:xfrm>
            <a:off x="1009650" y="19050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05EA34-8E4D-442B-88C9-3E08746CE69E}"/>
              </a:ext>
            </a:extLst>
          </p:cNvPr>
          <p:cNvSpPr>
            <a:spLocks noGrp="1"/>
          </p:cNvSpPr>
          <p:nvPr/>
        </p:nvSpPr>
        <p:spPr>
          <a:xfrm>
            <a:off x="1752600" y="1973036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 dirty="0" err="1">
                <a:solidFill>
                  <a:srgbClr val="102033"/>
                </a:solidFill>
              </a:rPr>
              <a:t>访客</a:t>
            </a:r>
            <a:r>
              <a:rPr sz="1575" b="1" dirty="0">
                <a:solidFill>
                  <a:srgbClr val="102033"/>
                </a:solidFill>
              </a:rPr>
              <a:t> Guest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7920FB-78BC-4F2E-B8CC-618FB59C27BA}"/>
              </a:ext>
            </a:extLst>
          </p:cNvPr>
          <p:cNvSpPr>
            <a:spLocks noGrp="1"/>
          </p:cNvSpPr>
          <p:nvPr/>
        </p:nvSpPr>
        <p:spPr>
          <a:xfrm>
            <a:off x="1009650" y="2381250"/>
            <a:ext cx="27813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600" dirty="0" err="1">
                <a:solidFill>
                  <a:srgbClr val="475569"/>
                </a:solidFill>
              </a:rPr>
              <a:t>无需登录，可查询公开</a:t>
            </a:r>
            <a:r>
              <a:rPr sz="1600" dirty="0">
                <a:solidFill>
                  <a:srgbClr val="475569"/>
                </a:solidFill>
              </a:rPr>
              <a:t> FAQ </a:t>
            </a:r>
            <a:r>
              <a:rPr sz="1600" dirty="0" err="1">
                <a:solidFill>
                  <a:srgbClr val="475569"/>
                </a:solidFill>
              </a:rPr>
              <a:t>与公开爬取资料；无法访问校内资料与个人信息</a:t>
            </a:r>
            <a:r>
              <a:rPr sz="1600" dirty="0">
                <a:solidFill>
                  <a:srgbClr val="475569"/>
                </a:solidFill>
              </a:rPr>
              <a:t>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71D5C2-E27E-42E8-B0A0-AA2F7616A593}"/>
              </a:ext>
            </a:extLst>
          </p:cNvPr>
          <p:cNvSpPr>
            <a:spLocks noGrp="1"/>
          </p:cNvSpPr>
          <p:nvPr/>
        </p:nvSpPr>
        <p:spPr>
          <a:xfrm>
            <a:off x="4476750" y="1695450"/>
            <a:ext cx="3238500" cy="2333625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5527F0-2EFB-43BF-9D27-D9F57E567191}"/>
              </a:ext>
            </a:extLst>
          </p:cNvPr>
          <p:cNvSpPr>
            <a:spLocks noGrp="1"/>
          </p:cNvSpPr>
          <p:nvPr/>
        </p:nvSpPr>
        <p:spPr>
          <a:xfrm>
            <a:off x="4705350" y="190500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879A"/>
                </a:solidFill>
              </a:defRPr>
            </a:pPr>
            <a:r>
              <a:rPr sz="1875" b="1">
                <a:solidFill>
                  <a:srgbClr val="11879A"/>
                </a:solidFill>
              </a:rPr>
              <a:t>S/T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D4F1B8-5102-4D3B-B250-51EC38D5B05C}"/>
              </a:ext>
            </a:extLst>
          </p:cNvPr>
          <p:cNvSpPr>
            <a:spLocks noGrp="1"/>
          </p:cNvSpPr>
          <p:nvPr/>
        </p:nvSpPr>
        <p:spPr>
          <a:xfrm>
            <a:off x="5372100" y="1981200"/>
            <a:ext cx="2343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 dirty="0" err="1">
                <a:solidFill>
                  <a:srgbClr val="102033"/>
                </a:solidFill>
              </a:rPr>
              <a:t>师生</a:t>
            </a:r>
            <a:r>
              <a:rPr sz="1575" b="1" dirty="0">
                <a:solidFill>
                  <a:srgbClr val="102033"/>
                </a:solidFill>
              </a:rPr>
              <a:t> Student / Teacher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1B7CFE-A30E-4101-AC1C-3F04EC381E05}"/>
              </a:ext>
            </a:extLst>
          </p:cNvPr>
          <p:cNvSpPr>
            <a:spLocks noGrp="1"/>
          </p:cNvSpPr>
          <p:nvPr/>
        </p:nvSpPr>
        <p:spPr>
          <a:xfrm>
            <a:off x="4705350" y="2381250"/>
            <a:ext cx="27813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600" dirty="0" err="1">
                <a:solidFill>
                  <a:srgbClr val="475569"/>
                </a:solidFill>
              </a:rPr>
              <a:t>统一身份登录后可查询公开资料、校内资料与本人档案，例如课程、成绩、学院、个人基础信息</a:t>
            </a:r>
            <a:r>
              <a:rPr sz="1600" dirty="0">
                <a:solidFill>
                  <a:srgbClr val="475569"/>
                </a:solidFill>
              </a:rPr>
              <a:t>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0C73B0-6579-4DDA-888B-F6236EB0E01D}"/>
              </a:ext>
            </a:extLst>
          </p:cNvPr>
          <p:cNvSpPr>
            <a:spLocks noGrp="1"/>
          </p:cNvSpPr>
          <p:nvPr/>
        </p:nvSpPr>
        <p:spPr>
          <a:xfrm>
            <a:off x="8172450" y="1721922"/>
            <a:ext cx="3238500" cy="2333625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3B60D4-2B5E-41A8-8670-BDD96645142F}"/>
              </a:ext>
            </a:extLst>
          </p:cNvPr>
          <p:cNvSpPr>
            <a:spLocks noGrp="1"/>
          </p:cNvSpPr>
          <p:nvPr/>
        </p:nvSpPr>
        <p:spPr>
          <a:xfrm>
            <a:off x="8401050" y="19050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A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D529B3-F1AE-42AB-B6AB-4D6671E8414D}"/>
              </a:ext>
            </a:extLst>
          </p:cNvPr>
          <p:cNvSpPr>
            <a:spLocks noGrp="1"/>
          </p:cNvSpPr>
          <p:nvPr/>
        </p:nvSpPr>
        <p:spPr>
          <a:xfrm>
            <a:off x="9172575" y="196833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 dirty="0" err="1">
                <a:solidFill>
                  <a:srgbClr val="102033"/>
                </a:solidFill>
              </a:rPr>
              <a:t>管理员</a:t>
            </a:r>
            <a:r>
              <a:rPr sz="1575" b="1" dirty="0">
                <a:solidFill>
                  <a:srgbClr val="102033"/>
                </a:solidFill>
              </a:rPr>
              <a:t> Admin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05B6A0-4459-4EEC-8073-724F2C759316}"/>
              </a:ext>
            </a:extLst>
          </p:cNvPr>
          <p:cNvSpPr>
            <a:spLocks noGrp="1"/>
          </p:cNvSpPr>
          <p:nvPr/>
        </p:nvSpPr>
        <p:spPr>
          <a:xfrm>
            <a:off x="8401050" y="2381250"/>
            <a:ext cx="2781300" cy="151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600" b="0" dirty="0" err="1">
                <a:solidFill>
                  <a:srgbClr val="475569"/>
                </a:solidFill>
              </a:rPr>
              <a:t>可进入管理后台，查看资料库、维护</a:t>
            </a:r>
            <a:r>
              <a:rPr sz="1600" b="0" dirty="0">
                <a:solidFill>
                  <a:srgbClr val="475569"/>
                </a:solidFill>
              </a:rPr>
              <a:t> </a:t>
            </a:r>
            <a:r>
              <a:rPr sz="1600" b="0" dirty="0" err="1">
                <a:solidFill>
                  <a:srgbClr val="475569"/>
                </a:solidFill>
              </a:rPr>
              <a:t>FAQ、发起网页爬取、预览并保存入库内容</a:t>
            </a:r>
            <a:r>
              <a:rPr sz="1600" b="0" dirty="0">
                <a:solidFill>
                  <a:srgbClr val="475569"/>
                </a:solidFill>
              </a:rPr>
              <a:t>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75BC9F9-825E-42DD-A362-FCEF4645E579}"/>
              </a:ext>
            </a:extLst>
          </p:cNvPr>
          <p:cNvSpPr>
            <a:spLocks noGrp="1"/>
          </p:cNvSpPr>
          <p:nvPr/>
        </p:nvSpPr>
        <p:spPr>
          <a:xfrm>
            <a:off x="1600200" y="4762500"/>
            <a:ext cx="8991600" cy="762000"/>
          </a:xfrm>
          <a:prstGeom prst="roundRect">
            <a:avLst>
              <a:gd name="adj" fmla="val 10000"/>
            </a:avLst>
          </a:prstGeom>
          <a:solidFill>
            <a:srgbClr val="E6FAF5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48C9D4-A371-4086-A0FC-617454D03C18}"/>
              </a:ext>
            </a:extLst>
          </p:cNvPr>
          <p:cNvSpPr>
            <a:spLocks noGrp="1"/>
          </p:cNvSpPr>
          <p:nvPr/>
        </p:nvSpPr>
        <p:spPr>
          <a:xfrm>
            <a:off x="2000250" y="49911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1879A"/>
                </a:solidFill>
              </a:defRPr>
            </a:pPr>
            <a:r>
              <a:rPr sz="1725" b="1">
                <a:solidFill>
                  <a:srgbClr val="11879A"/>
                </a:solidFill>
              </a:rPr>
              <a:t>权限控制贯穿身份认证、查询路由、向量集合选择、来源展示与后台管理接口。</a:t>
            </a:r>
          </a:p>
        </p:txBody>
      </p:sp>
    </p:spTree>
    <p:extLst>
      <p:ext uri="{BB962C8B-B14F-4D97-AF65-F5344CB8AC3E}">
        <p14:creationId xmlns:p14="http://schemas.microsoft.com/office/powerpoint/2010/main" val="128335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56A01AE-8472-4B96-B252-835F20E846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0F6F8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87A257-7E79-450F-88C8-8EFB69B6FDE8}"/>
              </a:ext>
            </a:extLst>
          </p:cNvPr>
          <p:cNvSpPr>
            <a:spLocks noGrp="1"/>
          </p:cNvSpPr>
          <p:nvPr/>
        </p:nvSpPr>
        <p:spPr>
          <a:xfrm>
            <a:off x="819150" y="876300"/>
            <a:ext cx="171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0" b="1">
                <a:solidFill>
                  <a:srgbClr val="36C7D6"/>
                </a:solidFill>
              </a:defRPr>
            </a:pPr>
            <a:r>
              <a:rPr sz="5400" b="1">
                <a:solidFill>
                  <a:srgbClr val="36C7D6"/>
                </a:solidFill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5F5A24-EF54-4ABB-8117-3C75BEAE39FB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590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技术实现与数据流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17649F-0A6E-4646-910B-403EDF910BE8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BBD5E1"/>
                </a:solidFill>
              </a:defRPr>
            </a:pPr>
            <a:r>
              <a:rPr sz="1275" b="0">
                <a:solidFill>
                  <a:srgbClr val="BBD5E1"/>
                </a:solidFill>
              </a:rPr>
              <a:t>SynapseQ Final Review</a:t>
            </a:r>
          </a:p>
        </p:txBody>
      </p:sp>
    </p:spTree>
    <p:extLst>
      <p:ext uri="{BB962C8B-B14F-4D97-AF65-F5344CB8AC3E}">
        <p14:creationId xmlns:p14="http://schemas.microsoft.com/office/powerpoint/2010/main" val="205872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6CF3-64FE-A007-34C0-FFF5CDBAE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1F13841-34BE-2E6C-9488-CE390CDFC820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>
                <a:solidFill>
                  <a:srgbClr val="11879A"/>
                </a:solidFill>
              </a:rPr>
              <a:t>02  核心流程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89E6FD-7DF3-766E-BE90-8AB1A1275242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问答工作流：先意图拆解，再选择数据源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218797-237B-BEF3-AB29-C14B85E829A1}"/>
              </a:ext>
            </a:extLst>
          </p:cNvPr>
          <p:cNvSpPr>
            <a:spLocks noGrp="1"/>
          </p:cNvSpPr>
          <p:nvPr/>
        </p:nvSpPr>
        <p:spPr>
          <a:xfrm>
            <a:off x="590550" y="10096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8292A6"/>
                </a:solidFill>
              </a:defRPr>
            </a:pPr>
            <a:r>
              <a:rPr sz="1125" b="0">
                <a:solidFill>
                  <a:srgbClr val="8292A6"/>
                </a:solidFill>
              </a:rPr>
              <a:t>Question Routing Workflow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4D8180-62FC-490E-CAD0-F1290CA1ADDF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>
                <a:solidFill>
                  <a:srgbClr val="8292A6"/>
                </a:solidFill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CD9345-6C86-0DDA-A60E-DED59A757CDD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090EB9-17F0-7B58-451B-685E94442565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7029450" cy="4152900"/>
          </a:xfrm>
          <a:prstGeom prst="roundRect">
            <a:avLst>
              <a:gd name="adj" fmla="val 1835"/>
            </a:avLst>
          </a:prstGeom>
          <a:solidFill>
            <a:srgbClr val="F8FBFD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6D1175-E357-E420-6C47-EAB1D4921F1F}"/>
              </a:ext>
            </a:extLst>
          </p:cNvPr>
          <p:cNvSpPr>
            <a:spLocks noGrp="1"/>
          </p:cNvSpPr>
          <p:nvPr/>
        </p:nvSpPr>
        <p:spPr>
          <a:xfrm>
            <a:off x="884957" y="2173926"/>
            <a:ext cx="8089606" cy="3176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>
                <a:solidFill>
                  <a:srgbClr val="1E293B"/>
                </a:solidFill>
              </a:defRPr>
            </a:pPr>
            <a:endParaRPr sz="825" b="0" dirty="0">
              <a:solidFill>
                <a:srgbClr val="1E293B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513A136-1140-4F9B-3B85-59613C63D5AE}"/>
              </a:ext>
            </a:extLst>
          </p:cNvPr>
          <p:cNvSpPr>
            <a:spLocks noGrp="1"/>
          </p:cNvSpPr>
          <p:nvPr/>
        </p:nvSpPr>
        <p:spPr>
          <a:xfrm>
            <a:off x="8115300" y="1847850"/>
            <a:ext cx="3333750" cy="41529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A569AF-1EE0-6194-3FE2-EC1BEC3FD00C}"/>
              </a:ext>
            </a:extLst>
          </p:cNvPr>
          <p:cNvSpPr>
            <a:spLocks noGrp="1"/>
          </p:cNvSpPr>
          <p:nvPr/>
        </p:nvSpPr>
        <p:spPr>
          <a:xfrm>
            <a:off x="8420100" y="21717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879A"/>
                </a:solidFill>
              </a:defRPr>
            </a:pPr>
            <a:r>
              <a:rPr sz="1800" b="1" dirty="0" err="1">
                <a:solidFill>
                  <a:srgbClr val="11879A"/>
                </a:solidFill>
              </a:rPr>
              <a:t>流程说明</a:t>
            </a:r>
            <a:endParaRPr sz="1800" b="1" dirty="0">
              <a:solidFill>
                <a:srgbClr val="11879A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35D8C4-F673-5A8C-80A3-571F38E95674}"/>
              </a:ext>
            </a:extLst>
          </p:cNvPr>
          <p:cNvSpPr>
            <a:spLocks noGrp="1"/>
          </p:cNvSpPr>
          <p:nvPr/>
        </p:nvSpPr>
        <p:spPr>
          <a:xfrm>
            <a:off x="8420100" y="2724150"/>
            <a:ext cx="272415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• </a:t>
            </a:r>
            <a:r>
              <a:rPr sz="1350" b="0" dirty="0" err="1">
                <a:solidFill>
                  <a:srgbClr val="475569"/>
                </a:solidFill>
              </a:rPr>
              <a:t>优先识别“全部基于</a:t>
            </a:r>
            <a:r>
              <a:rPr sz="1350" b="0" dirty="0">
                <a:solidFill>
                  <a:srgbClr val="475569"/>
                </a:solidFill>
              </a:rPr>
              <a:t> </a:t>
            </a:r>
            <a:r>
              <a:rPr sz="1350" b="0" dirty="0" err="1">
                <a:solidFill>
                  <a:srgbClr val="475569"/>
                </a:solidFill>
              </a:rPr>
              <a:t>LLM”等绕开资料库指令</a:t>
            </a:r>
            <a:r>
              <a:rPr sz="1350" b="0" dirty="0">
                <a:solidFill>
                  <a:srgbClr val="475569"/>
                </a:solidFill>
              </a:rPr>
              <a:t>。</a:t>
            </a:r>
          </a:p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• </a:t>
            </a:r>
            <a:r>
              <a:rPr sz="1350" b="0" dirty="0" err="1">
                <a:solidFill>
                  <a:srgbClr val="475569"/>
                </a:solidFill>
              </a:rPr>
              <a:t>所有普通问题先由</a:t>
            </a:r>
            <a:r>
              <a:rPr sz="1350" b="0" dirty="0">
                <a:solidFill>
                  <a:srgbClr val="475569"/>
                </a:solidFill>
              </a:rPr>
              <a:t> Qwen </a:t>
            </a:r>
            <a:r>
              <a:rPr sz="1350" b="0" dirty="0" err="1">
                <a:solidFill>
                  <a:srgbClr val="475569"/>
                </a:solidFill>
              </a:rPr>
              <a:t>拆解意图、实体、动作和过滤条件</a:t>
            </a:r>
            <a:r>
              <a:rPr sz="1350" b="0" dirty="0">
                <a:solidFill>
                  <a:srgbClr val="475569"/>
                </a:solidFill>
              </a:rPr>
              <a:t>。</a:t>
            </a:r>
          </a:p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• </a:t>
            </a:r>
            <a:r>
              <a:rPr sz="1350" b="0" dirty="0" err="1">
                <a:solidFill>
                  <a:srgbClr val="475569"/>
                </a:solidFill>
              </a:rPr>
              <a:t>信息不足或条件不完整时先澄清，不直接猜测</a:t>
            </a:r>
            <a:r>
              <a:rPr sz="1350" b="0" dirty="0">
                <a:solidFill>
                  <a:srgbClr val="475569"/>
                </a:solidFill>
              </a:rPr>
              <a:t>。</a:t>
            </a:r>
          </a:p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• </a:t>
            </a:r>
            <a:r>
              <a:rPr sz="1350" b="0" dirty="0" err="1">
                <a:solidFill>
                  <a:srgbClr val="475569"/>
                </a:solidFill>
              </a:rPr>
              <a:t>个人信息查询只访问当前登录用户的数据</a:t>
            </a:r>
            <a:r>
              <a:rPr sz="1350" b="0" dirty="0">
                <a:solidFill>
                  <a:srgbClr val="475569"/>
                </a:solidFill>
              </a:rPr>
              <a:t>。</a:t>
            </a:r>
          </a:p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• FAQ 与 RAG </a:t>
            </a:r>
            <a:r>
              <a:rPr sz="1350" b="0" dirty="0" err="1">
                <a:solidFill>
                  <a:srgbClr val="475569"/>
                </a:solidFill>
              </a:rPr>
              <a:t>命中时返回来源、片段和置信度</a:t>
            </a:r>
            <a:r>
              <a:rPr sz="1350" b="0" dirty="0">
                <a:solidFill>
                  <a:srgbClr val="475569"/>
                </a:solidFill>
              </a:rPr>
              <a:t>。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803088D-6C53-4275-0DF6-D371CE6CA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99" y="1420036"/>
            <a:ext cx="5199028" cy="5199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39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574F471-F5A2-4515-8DE1-C17CE0A3F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0F6F8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258A37-B79E-4FCB-ACD4-0EE8764D8FB4}"/>
              </a:ext>
            </a:extLst>
          </p:cNvPr>
          <p:cNvSpPr>
            <a:spLocks noGrp="1"/>
          </p:cNvSpPr>
          <p:nvPr/>
        </p:nvSpPr>
        <p:spPr>
          <a:xfrm>
            <a:off x="819150" y="876300"/>
            <a:ext cx="171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0" b="1">
                <a:solidFill>
                  <a:srgbClr val="36C7D6"/>
                </a:solidFill>
              </a:defRPr>
            </a:pPr>
            <a:r>
              <a:rPr sz="5400" b="1">
                <a:solidFill>
                  <a:srgbClr val="36C7D6"/>
                </a:solidFill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BA40A2-E5D0-4E26-9DB7-E41BA45E4781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590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功能用例与业务流程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4AC5D2-552C-45EF-8358-4F36E9136C95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BBD5E1"/>
                </a:solidFill>
              </a:defRPr>
            </a:pPr>
            <a:r>
              <a:rPr sz="1275" b="0">
                <a:solidFill>
                  <a:srgbClr val="BBD5E1"/>
                </a:solidFill>
              </a:rPr>
              <a:t>SynapseQ Final Review</a:t>
            </a:r>
          </a:p>
        </p:txBody>
      </p:sp>
    </p:spTree>
    <p:extLst>
      <p:ext uri="{BB962C8B-B14F-4D97-AF65-F5344CB8AC3E}">
        <p14:creationId xmlns:p14="http://schemas.microsoft.com/office/powerpoint/2010/main" val="979971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034A97D-1500-4268-80E8-5D0CCB86B237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>
                <a:solidFill>
                  <a:srgbClr val="11879A"/>
                </a:solidFill>
              </a:rPr>
              <a:t>03  用例板块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8728B5-F59A-4EF8-A1F7-3D9C16C70164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主要功能用例与用例图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E1B9B2-16C1-4A80-A603-2E8DD1847378}"/>
              </a:ext>
            </a:extLst>
          </p:cNvPr>
          <p:cNvSpPr>
            <a:spLocks noGrp="1"/>
          </p:cNvSpPr>
          <p:nvPr/>
        </p:nvSpPr>
        <p:spPr>
          <a:xfrm>
            <a:off x="590550" y="10096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8292A6"/>
                </a:solidFill>
              </a:defRPr>
            </a:pPr>
            <a:r>
              <a:rPr sz="1125" b="0">
                <a:solidFill>
                  <a:srgbClr val="8292A6"/>
                </a:solidFill>
              </a:rPr>
              <a:t>Use Cases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05D083-DCC2-47FF-B2B2-A68EC90A10E2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>
                <a:solidFill>
                  <a:srgbClr val="8292A6"/>
                </a:solidFill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183B8C-BB5F-402C-968F-4B12B458032F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E52BAFE-57CC-416D-91CC-5C1ABD546BC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428625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1ACFE8-E0C5-4E25-9FC6-B320FDC4EA12}"/>
              </a:ext>
            </a:extLst>
          </p:cNvPr>
          <p:cNvSpPr>
            <a:spLocks noGrp="1"/>
          </p:cNvSpPr>
          <p:nvPr/>
        </p:nvSpPr>
        <p:spPr>
          <a:xfrm>
            <a:off x="990600" y="19812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1879A"/>
                </a:solidFill>
              </a:defRPr>
            </a:pPr>
            <a:r>
              <a:rPr sz="1800" b="1" dirty="0" err="1">
                <a:solidFill>
                  <a:srgbClr val="11879A"/>
                </a:solidFill>
              </a:rPr>
              <a:t>用例说明</a:t>
            </a:r>
            <a:endParaRPr sz="1800" b="1" dirty="0">
              <a:solidFill>
                <a:srgbClr val="11879A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D07D08-1F93-436E-A7CA-ED47CCA12309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3524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• </a:t>
            </a:r>
            <a:r>
              <a:rPr sz="1350" b="0" dirty="0" err="1">
                <a:solidFill>
                  <a:srgbClr val="475569"/>
                </a:solidFill>
              </a:rPr>
              <a:t>访客：免登录查询公开</a:t>
            </a:r>
            <a:r>
              <a:rPr sz="1350" b="0" dirty="0">
                <a:solidFill>
                  <a:srgbClr val="475569"/>
                </a:solidFill>
              </a:rPr>
              <a:t> FAQ </a:t>
            </a:r>
            <a:r>
              <a:rPr sz="1350" b="0" dirty="0" err="1">
                <a:solidFill>
                  <a:srgbClr val="475569"/>
                </a:solidFill>
              </a:rPr>
              <a:t>与公开资料，查看来源片段</a:t>
            </a:r>
            <a:r>
              <a:rPr sz="1350" b="0" dirty="0">
                <a:solidFill>
                  <a:srgbClr val="475569"/>
                </a:solidFill>
              </a:rPr>
              <a:t>。</a:t>
            </a:r>
          </a:p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• </a:t>
            </a:r>
            <a:r>
              <a:rPr sz="1350" b="0" dirty="0" err="1">
                <a:solidFill>
                  <a:srgbClr val="475569"/>
                </a:solidFill>
              </a:rPr>
              <a:t>师生：登录后查询公开</a:t>
            </a:r>
            <a:r>
              <a:rPr sz="1350" b="0" dirty="0">
                <a:solidFill>
                  <a:srgbClr val="475569"/>
                </a:solidFill>
              </a:rPr>
              <a:t>/</a:t>
            </a:r>
            <a:r>
              <a:rPr sz="1350" b="0" dirty="0" err="1">
                <a:solidFill>
                  <a:srgbClr val="475569"/>
                </a:solidFill>
              </a:rPr>
              <a:t>校内资料，并访问本人课程、成绩和档案</a:t>
            </a:r>
            <a:r>
              <a:rPr sz="1350" b="0" dirty="0">
                <a:solidFill>
                  <a:srgbClr val="475569"/>
                </a:solidFill>
              </a:rPr>
              <a:t>。</a:t>
            </a:r>
          </a:p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• </a:t>
            </a:r>
            <a:r>
              <a:rPr sz="1350" b="0" dirty="0" err="1">
                <a:solidFill>
                  <a:srgbClr val="475569"/>
                </a:solidFill>
              </a:rPr>
              <a:t>管理员：进入后台维护</a:t>
            </a:r>
            <a:r>
              <a:rPr sz="1350" b="0" dirty="0">
                <a:solidFill>
                  <a:srgbClr val="475569"/>
                </a:solidFill>
              </a:rPr>
              <a:t> </a:t>
            </a:r>
            <a:r>
              <a:rPr sz="1350" b="0" dirty="0" err="1">
                <a:solidFill>
                  <a:srgbClr val="475569"/>
                </a:solidFill>
              </a:rPr>
              <a:t>FAQ、查看资料库、发起网页爬取、预览编辑并入库</a:t>
            </a:r>
            <a:r>
              <a:rPr sz="1350" b="0" dirty="0">
                <a:solidFill>
                  <a:srgbClr val="475569"/>
                </a:solidFill>
              </a:rPr>
              <a:t>。</a:t>
            </a:r>
          </a:p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• </a:t>
            </a:r>
            <a:r>
              <a:rPr sz="1350" b="0" dirty="0" err="1">
                <a:solidFill>
                  <a:srgbClr val="475569"/>
                </a:solidFill>
              </a:rPr>
              <a:t>系统能力：LLM</a:t>
            </a:r>
            <a:r>
              <a:rPr sz="1350" b="0" dirty="0">
                <a:solidFill>
                  <a:srgbClr val="475569"/>
                </a:solidFill>
              </a:rPr>
              <a:t> </a:t>
            </a:r>
            <a:r>
              <a:rPr sz="1350" b="0" dirty="0" err="1">
                <a:solidFill>
                  <a:srgbClr val="475569"/>
                </a:solidFill>
              </a:rPr>
              <a:t>意图拆解、资料不足提示、LLM-only</a:t>
            </a:r>
            <a:r>
              <a:rPr sz="1350" b="0" dirty="0">
                <a:solidFill>
                  <a:srgbClr val="475569"/>
                </a:solidFill>
              </a:rPr>
              <a:t> </a:t>
            </a:r>
            <a:r>
              <a:rPr sz="1350" b="0" dirty="0" err="1">
                <a:solidFill>
                  <a:srgbClr val="475569"/>
                </a:solidFill>
              </a:rPr>
              <a:t>回答、权限隔离与来源追溯</a:t>
            </a:r>
            <a:r>
              <a:rPr sz="1350" b="0" dirty="0">
                <a:solidFill>
                  <a:srgbClr val="475569"/>
                </a:solidFill>
              </a:rPr>
              <a:t>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6570476-ADEB-4EA1-94B5-33682B93235E}"/>
              </a:ext>
            </a:extLst>
          </p:cNvPr>
          <p:cNvSpPr>
            <a:spLocks noGrp="1"/>
          </p:cNvSpPr>
          <p:nvPr/>
        </p:nvSpPr>
        <p:spPr>
          <a:xfrm>
            <a:off x="5334000" y="1676400"/>
            <a:ext cx="6191250" cy="4000500"/>
          </a:xfrm>
          <a:prstGeom prst="roundRect">
            <a:avLst>
              <a:gd name="adj" fmla="val 1905"/>
            </a:avLst>
          </a:prstGeom>
          <a:solidFill>
            <a:srgbClr val="F8FBFD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D06335-9CB4-4B6C-821D-7514DA34643D}"/>
              </a:ext>
            </a:extLst>
          </p:cNvPr>
          <p:cNvSpPr>
            <a:spLocks noGrp="1"/>
          </p:cNvSpPr>
          <p:nvPr/>
        </p:nvSpPr>
        <p:spPr>
          <a:xfrm>
            <a:off x="4986523" y="3213512"/>
            <a:ext cx="748999" cy="379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1E293B"/>
                </a:solidFill>
              </a:defRPr>
            </a:pPr>
            <a:endParaRPr sz="788" b="0" dirty="0">
              <a:solidFill>
                <a:srgbClr val="1E293B"/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A50A33A-1EE5-E5D6-B335-1264BA471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678" y="1323975"/>
            <a:ext cx="2432834" cy="465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364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7A6E7-DE82-7C63-C4A1-D2D5F38F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DC15812-8E80-90F5-A2F6-B6CBF0DD7E83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 dirty="0">
                <a:solidFill>
                  <a:srgbClr val="11879A"/>
                </a:solidFill>
              </a:rPr>
              <a:t>03  </a:t>
            </a:r>
            <a:r>
              <a:rPr sz="1125" b="1" dirty="0" err="1">
                <a:solidFill>
                  <a:srgbClr val="11879A"/>
                </a:solidFill>
              </a:rPr>
              <a:t>用例板块</a:t>
            </a:r>
            <a:endParaRPr sz="1125" b="1" dirty="0">
              <a:solidFill>
                <a:srgbClr val="11879A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4A8FF5-25CD-23A4-6638-DC73B7DF7462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lang="zh-CN" altLang="en-US" sz="2550" b="1" dirty="0">
                <a:solidFill>
                  <a:srgbClr val="102033"/>
                </a:solidFill>
              </a:rPr>
              <a:t>用例拆解：</a:t>
            </a:r>
            <a:r>
              <a:rPr lang="zh-CN" altLang="en-US" sz="2550" b="1" dirty="0"/>
              <a:t>访客公开问答</a:t>
            </a:r>
            <a:endParaRPr sz="2550" b="1" dirty="0">
              <a:solidFill>
                <a:srgbClr val="102033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56C6D7-C027-4549-BA6D-A7D2C52C67B0}"/>
              </a:ext>
            </a:extLst>
          </p:cNvPr>
          <p:cNvSpPr>
            <a:spLocks noGrp="1"/>
          </p:cNvSpPr>
          <p:nvPr/>
        </p:nvSpPr>
        <p:spPr>
          <a:xfrm>
            <a:off x="590550" y="10096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8292A6"/>
                </a:solidFill>
              </a:defRPr>
            </a:pPr>
            <a:r>
              <a:rPr sz="1125" b="0">
                <a:solidFill>
                  <a:srgbClr val="8292A6"/>
                </a:solidFill>
              </a:rPr>
              <a:t>Use Cases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F8B068-CC0B-2041-9348-41B3B7A539FA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 dirty="0">
                <a:solidFill>
                  <a:srgbClr val="8292A6"/>
                </a:solidFill>
              </a:rPr>
              <a:t>1</a:t>
            </a:r>
            <a:r>
              <a:rPr lang="en-US" sz="1350" b="1" dirty="0">
                <a:solidFill>
                  <a:srgbClr val="8292A6"/>
                </a:solidFill>
              </a:rPr>
              <a:t>2</a:t>
            </a:r>
            <a:endParaRPr sz="1350" b="1" dirty="0">
              <a:solidFill>
                <a:srgbClr val="8292A6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027587-D6A3-7C40-B800-B8E37E4A80D5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067469C-C538-1E79-021E-565E7CF3ED62}"/>
              </a:ext>
            </a:extLst>
          </p:cNvPr>
          <p:cNvSpPr>
            <a:spLocks noGrp="1"/>
          </p:cNvSpPr>
          <p:nvPr/>
        </p:nvSpPr>
        <p:spPr>
          <a:xfrm>
            <a:off x="590550" y="1476375"/>
            <a:ext cx="10934700" cy="4932713"/>
          </a:xfrm>
          <a:prstGeom prst="roundRect">
            <a:avLst>
              <a:gd name="adj" fmla="val 5022"/>
            </a:avLst>
          </a:prstGeom>
          <a:solidFill>
            <a:srgbClr val="F8FBFD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67B5BD1-09B5-43AF-BF3B-C6FE09137F2F}"/>
              </a:ext>
            </a:extLst>
          </p:cNvPr>
          <p:cNvSpPr>
            <a:spLocks noGrp="1"/>
          </p:cNvSpPr>
          <p:nvPr/>
        </p:nvSpPr>
        <p:spPr>
          <a:xfrm>
            <a:off x="4986523" y="3213512"/>
            <a:ext cx="748999" cy="379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1E293B"/>
                </a:solidFill>
              </a:defRPr>
            </a:pPr>
            <a:endParaRPr sz="788" b="0" dirty="0">
              <a:solidFill>
                <a:srgbClr val="1E293B"/>
              </a:solidFill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94A7651-6D2C-7DC6-2DFC-054616BA6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761092"/>
              </p:ext>
            </p:extLst>
          </p:nvPr>
        </p:nvGraphicFramePr>
        <p:xfrm>
          <a:off x="1577726" y="1595746"/>
          <a:ext cx="9274758" cy="448020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091586">
                  <a:extLst>
                    <a:ext uri="{9D8B030D-6E8A-4147-A177-3AD203B41FA5}">
                      <a16:colId xmlns:a16="http://schemas.microsoft.com/office/drawing/2014/main" val="1021447839"/>
                    </a:ext>
                  </a:extLst>
                </a:gridCol>
                <a:gridCol w="3091586">
                  <a:extLst>
                    <a:ext uri="{9D8B030D-6E8A-4147-A177-3AD203B41FA5}">
                      <a16:colId xmlns:a16="http://schemas.microsoft.com/office/drawing/2014/main" val="566986106"/>
                    </a:ext>
                  </a:extLst>
                </a:gridCol>
                <a:gridCol w="3091586">
                  <a:extLst>
                    <a:ext uri="{9D8B030D-6E8A-4147-A177-3AD203B41FA5}">
                      <a16:colId xmlns:a16="http://schemas.microsoft.com/office/drawing/2014/main" val="2641983992"/>
                    </a:ext>
                  </a:extLst>
                </a:gridCol>
              </a:tblGrid>
              <a:tr h="2831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用例编号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用例名称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说明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122969610"/>
                  </a:ext>
                </a:extLst>
              </a:tr>
              <a:tr h="924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UC-G1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访客进入系统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用户不需要校内账号，通过访客身份进入问答页面。后端生成 </a:t>
                      </a:r>
                      <a:r>
                        <a:rPr lang="en-US" altLang="zh-CN" sz="1400"/>
                        <a:t>guest_*</a:t>
                      </a:r>
                      <a:r>
                        <a:rPr lang="zh-CN" altLang="en-US" sz="1400"/>
                        <a:t> 身份，并保存临时 </a:t>
                      </a:r>
                      <a:r>
                        <a:rPr lang="en-US" altLang="zh-CN" sz="1400"/>
                        <a:t>Refresh Token</a:t>
                      </a:r>
                      <a:r>
                        <a:rPr lang="zh-CN" altLang="en-US" sz="1400"/>
                        <a:t>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656944361"/>
                  </a:ext>
                </a:extLst>
              </a:tr>
              <a:tr h="924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UC-G2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公开 </a:t>
                      </a:r>
                      <a:r>
                        <a:rPr lang="en-US" altLang="zh-CN" sz="1400" dirty="0"/>
                        <a:t>FAQ </a:t>
                      </a:r>
                      <a:r>
                        <a:rPr lang="zh-CN" altLang="en-US" sz="1400" dirty="0"/>
                        <a:t>快速问答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对校训、校区、校园卡、校园网等常见问题，系统优先匹配本地 </a:t>
                      </a:r>
                      <a:r>
                        <a:rPr lang="en-US" altLang="zh-CN" sz="1400" dirty="0"/>
                        <a:t>FAQ </a:t>
                      </a:r>
                      <a:r>
                        <a:rPr lang="zh-CN" altLang="en-US" sz="1400" dirty="0"/>
                        <a:t>或 </a:t>
                      </a:r>
                      <a:r>
                        <a:rPr lang="en-US" altLang="zh-CN" sz="1400" dirty="0" err="1"/>
                        <a:t>rag_faq</a:t>
                      </a:r>
                      <a:r>
                        <a:rPr lang="zh-CN" altLang="en-US" sz="1400" dirty="0"/>
                        <a:t>，命中后直接返回标准答案。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714988384"/>
                  </a:ext>
                </a:extLst>
              </a:tr>
              <a:tr h="711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UC-G3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公开资料 </a:t>
                      </a:r>
                      <a:r>
                        <a:rPr lang="en-US" altLang="zh-CN" sz="1400"/>
                        <a:t>RAG </a:t>
                      </a:r>
                      <a:r>
                        <a:rPr lang="zh-CN" altLang="en-US" sz="1400"/>
                        <a:t>问答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当 </a:t>
                      </a:r>
                      <a:r>
                        <a:rPr lang="en-US" altLang="zh-CN" sz="1400"/>
                        <a:t>FAQ </a:t>
                      </a:r>
                      <a:r>
                        <a:rPr lang="zh-CN" altLang="en-US" sz="1400"/>
                        <a:t>没有命中时，系统检索 </a:t>
                      </a:r>
                      <a:r>
                        <a:rPr lang="en-US" altLang="zh-CN" sz="1400"/>
                        <a:t>rag_standard</a:t>
                      </a:r>
                      <a:r>
                        <a:rPr lang="zh-CN" altLang="en-US" sz="1400"/>
                        <a:t> 中的公开资料，再交给 </a:t>
                      </a:r>
                      <a:r>
                        <a:rPr lang="en-US" altLang="zh-CN" sz="1400"/>
                        <a:t>LLM </a:t>
                      </a:r>
                      <a:r>
                        <a:rPr lang="zh-CN" altLang="en-US" sz="1400"/>
                        <a:t>基于资料生成回答。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829113944"/>
                  </a:ext>
                </a:extLst>
              </a:tr>
              <a:tr h="711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UC-G4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来源追溯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回答后返回来源标题、</a:t>
                      </a:r>
                      <a:r>
                        <a:rPr lang="en-US" altLang="zh-CN" sz="1400"/>
                        <a:t>URL</a:t>
                      </a:r>
                      <a:r>
                        <a:rPr lang="zh-CN" altLang="en-US" sz="1400"/>
                        <a:t>、片段、分数和来源类型，前端可以展开查看。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3050100961"/>
                  </a:ext>
                </a:extLst>
              </a:tr>
              <a:tr h="924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UC-G5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LLM-only </a:t>
                      </a:r>
                      <a:r>
                        <a:rPr lang="zh-CN" altLang="en-US" sz="1400"/>
                        <a:t>回答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当用户明确说“不使用资料库 </a:t>
                      </a:r>
                      <a:r>
                        <a:rPr lang="en-US" altLang="zh-CN" sz="1400" dirty="0"/>
                        <a:t>/ </a:t>
                      </a:r>
                      <a:r>
                        <a:rPr lang="zh-CN" altLang="en-US" sz="1400" dirty="0"/>
                        <a:t>只用大模型回答”时，系统跳过 </a:t>
                      </a:r>
                      <a:r>
                        <a:rPr lang="en-US" altLang="zh-CN" sz="1400" dirty="0"/>
                        <a:t>RAG</a:t>
                      </a:r>
                      <a:r>
                        <a:rPr lang="zh-CN" altLang="en-US" sz="1400" dirty="0"/>
                        <a:t>，直接使用通用 </a:t>
                      </a:r>
                      <a:r>
                        <a:rPr lang="en-US" altLang="zh-CN" sz="1400" dirty="0"/>
                        <a:t>LLM </a:t>
                      </a:r>
                      <a:r>
                        <a:rPr lang="zh-CN" altLang="en-US" sz="1400" dirty="0"/>
                        <a:t>回答并标注低置信度。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217270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403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7249F-515E-C023-20C5-3EA9EF16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BA47157-8535-8683-15FA-8912028E248D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 dirty="0">
                <a:solidFill>
                  <a:srgbClr val="11879A"/>
                </a:solidFill>
              </a:rPr>
              <a:t>03  </a:t>
            </a:r>
            <a:r>
              <a:rPr sz="1125" b="1" dirty="0" err="1">
                <a:solidFill>
                  <a:srgbClr val="11879A"/>
                </a:solidFill>
              </a:rPr>
              <a:t>用例板块</a:t>
            </a:r>
            <a:endParaRPr sz="1125" b="1" dirty="0">
              <a:solidFill>
                <a:srgbClr val="11879A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38C140-5EAC-99DF-331B-ABF6FDF439F8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lang="zh-CN" altLang="en-US" sz="2550" b="1" dirty="0">
                <a:solidFill>
                  <a:srgbClr val="102033"/>
                </a:solidFill>
              </a:rPr>
              <a:t>用例拆解：</a:t>
            </a:r>
            <a:r>
              <a:rPr lang="zh-CN" altLang="en-US" sz="2550" b="1" dirty="0"/>
              <a:t>师生身份感知问答</a:t>
            </a:r>
            <a:endParaRPr sz="2550" b="1" dirty="0">
              <a:solidFill>
                <a:srgbClr val="102033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FC7128-C8E8-6972-6A96-1A6252906F1E}"/>
              </a:ext>
            </a:extLst>
          </p:cNvPr>
          <p:cNvSpPr>
            <a:spLocks noGrp="1"/>
          </p:cNvSpPr>
          <p:nvPr/>
        </p:nvSpPr>
        <p:spPr>
          <a:xfrm>
            <a:off x="590550" y="10096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8292A6"/>
                </a:solidFill>
              </a:defRPr>
            </a:pPr>
            <a:r>
              <a:rPr sz="1125" b="0">
                <a:solidFill>
                  <a:srgbClr val="8292A6"/>
                </a:solidFill>
              </a:rPr>
              <a:t>Use Cases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B0FB53-B7E5-548C-2CFF-894183D9A574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 dirty="0">
                <a:solidFill>
                  <a:srgbClr val="8292A6"/>
                </a:solidFill>
              </a:rPr>
              <a:t>1</a:t>
            </a:r>
            <a:r>
              <a:rPr lang="en-US" sz="1350" b="1" dirty="0">
                <a:solidFill>
                  <a:srgbClr val="8292A6"/>
                </a:solidFill>
              </a:rPr>
              <a:t>3</a:t>
            </a:r>
            <a:endParaRPr sz="1350" b="1" dirty="0">
              <a:solidFill>
                <a:srgbClr val="8292A6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73DAC2-3220-E708-C1A5-5124A17653D0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F4D1EA6-D696-1973-31EA-B8E075EC96B9}"/>
              </a:ext>
            </a:extLst>
          </p:cNvPr>
          <p:cNvSpPr>
            <a:spLocks noGrp="1"/>
          </p:cNvSpPr>
          <p:nvPr/>
        </p:nvSpPr>
        <p:spPr>
          <a:xfrm>
            <a:off x="548439" y="1506465"/>
            <a:ext cx="10934700" cy="4932713"/>
          </a:xfrm>
          <a:prstGeom prst="roundRect">
            <a:avLst>
              <a:gd name="adj" fmla="val 5022"/>
            </a:avLst>
          </a:prstGeom>
          <a:solidFill>
            <a:srgbClr val="F8FBFD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001E4A-EB27-6427-9A1F-91FFABCB96C3}"/>
              </a:ext>
            </a:extLst>
          </p:cNvPr>
          <p:cNvSpPr>
            <a:spLocks noGrp="1"/>
          </p:cNvSpPr>
          <p:nvPr/>
        </p:nvSpPr>
        <p:spPr>
          <a:xfrm>
            <a:off x="4986523" y="3213512"/>
            <a:ext cx="748999" cy="379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1E293B"/>
                </a:solidFill>
              </a:defRPr>
            </a:pPr>
            <a:endParaRPr sz="788" b="0" dirty="0">
              <a:solidFill>
                <a:srgbClr val="1E293B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7B4562A-4F67-4503-5F0F-C3BB91D94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072714"/>
              </p:ext>
            </p:extLst>
          </p:nvPr>
        </p:nvGraphicFramePr>
        <p:xfrm>
          <a:off x="1399257" y="2333145"/>
          <a:ext cx="9233064" cy="2760616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077688">
                  <a:extLst>
                    <a:ext uri="{9D8B030D-6E8A-4147-A177-3AD203B41FA5}">
                      <a16:colId xmlns:a16="http://schemas.microsoft.com/office/drawing/2014/main" val="1891286209"/>
                    </a:ext>
                  </a:extLst>
                </a:gridCol>
                <a:gridCol w="3077688">
                  <a:extLst>
                    <a:ext uri="{9D8B030D-6E8A-4147-A177-3AD203B41FA5}">
                      <a16:colId xmlns:a16="http://schemas.microsoft.com/office/drawing/2014/main" val="650124898"/>
                    </a:ext>
                  </a:extLst>
                </a:gridCol>
                <a:gridCol w="3077688">
                  <a:extLst>
                    <a:ext uri="{9D8B030D-6E8A-4147-A177-3AD203B41FA5}">
                      <a16:colId xmlns:a16="http://schemas.microsoft.com/office/drawing/2014/main" val="2125912326"/>
                    </a:ext>
                  </a:extLst>
                </a:gridCol>
              </a:tblGrid>
              <a:tr h="2170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用例编号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用例名称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说明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229918804"/>
                  </a:ext>
                </a:extLst>
              </a:tr>
              <a:tr h="5448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UC-M1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师生登录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用户输入账号密码，后端校验 </a:t>
                      </a:r>
                      <a:r>
                        <a:rPr lang="en-US" altLang="zh-CN" sz="1400"/>
                        <a:t>MySQL </a:t>
                      </a:r>
                      <a:r>
                        <a:rPr lang="zh-CN" altLang="en-US" sz="1400"/>
                        <a:t>用户表，生成 </a:t>
                      </a:r>
                      <a:r>
                        <a:rPr lang="en-US" altLang="zh-CN" sz="1400"/>
                        <a:t>JWT </a:t>
                      </a:r>
                      <a:r>
                        <a:rPr lang="zh-CN" altLang="en-US" sz="1400"/>
                        <a:t>和 </a:t>
                      </a:r>
                      <a:r>
                        <a:rPr lang="en-US" altLang="zh-CN" sz="1400"/>
                        <a:t>Refresh Token</a:t>
                      </a:r>
                      <a:r>
                        <a:rPr lang="zh-CN" altLang="en-US" sz="1400"/>
                        <a:t>。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988511908"/>
                  </a:ext>
                </a:extLst>
              </a:tr>
              <a:tr h="5448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UC-M2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校内资料问答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登录后，系统在公开资料基础上增加 </a:t>
                      </a:r>
                      <a:r>
                        <a:rPr lang="en-US" sz="1400" dirty="0" err="1"/>
                        <a:t>rag_knowledge</a:t>
                      </a:r>
                      <a:r>
                        <a:rPr lang="en-US" sz="1400" dirty="0"/>
                        <a:t> </a:t>
                      </a:r>
                      <a:r>
                        <a:rPr lang="zh-CN" altLang="en-US" sz="1400" dirty="0"/>
                        <a:t>校内资料检索。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68083637"/>
                  </a:ext>
                </a:extLst>
              </a:tr>
              <a:tr h="5448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UC-M3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本人档案查询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用户询问“我的学院 </a:t>
                      </a:r>
                      <a:r>
                        <a:rPr lang="en-US" altLang="zh-CN" sz="1400"/>
                        <a:t>/ </a:t>
                      </a:r>
                      <a:r>
                        <a:rPr lang="zh-CN" altLang="en-US" sz="1400"/>
                        <a:t>我的专业 </a:t>
                      </a:r>
                      <a:r>
                        <a:rPr lang="en-US" altLang="zh-CN" sz="1400"/>
                        <a:t>/ </a:t>
                      </a:r>
                      <a:r>
                        <a:rPr lang="zh-CN" altLang="en-US" sz="1400"/>
                        <a:t>我的绩点”等问题时，只读取当前登录用户的 </a:t>
                      </a:r>
                      <a:r>
                        <a:rPr lang="en-US" altLang="zh-CN" sz="1400"/>
                        <a:t>MySQL </a:t>
                      </a:r>
                      <a:r>
                        <a:rPr lang="zh-CN" altLang="en-US" sz="1400"/>
                        <a:t>个人档案。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434467426"/>
                  </a:ext>
                </a:extLst>
              </a:tr>
              <a:tr h="708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UC-M4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课表与成绩查询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用户询问“我周三上午有什么课”“我的成绩是多少”等问题时，系统读取 </a:t>
                      </a:r>
                      <a:r>
                        <a:rPr lang="en-US" sz="1400" dirty="0" err="1"/>
                        <a:t>course_schedules</a:t>
                      </a:r>
                      <a:r>
                        <a:rPr lang="en-US" sz="1400" dirty="0"/>
                        <a:t> </a:t>
                      </a:r>
                      <a:r>
                        <a:rPr lang="zh-CN" altLang="en-US" sz="1400" dirty="0"/>
                        <a:t>和 </a:t>
                      </a:r>
                      <a:r>
                        <a:rPr lang="en-US" sz="1400" dirty="0" err="1"/>
                        <a:t>student_grades</a:t>
                      </a:r>
                      <a:r>
                        <a:rPr lang="en-US" sz="1400" dirty="0"/>
                        <a:t>。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775528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54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E1AD4-BB19-46DD-EA5F-B79F43E86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01E71F1-FC2F-68C9-06AB-473DD90F96F6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 dirty="0">
                <a:solidFill>
                  <a:srgbClr val="11879A"/>
                </a:solidFill>
              </a:rPr>
              <a:t>03  </a:t>
            </a:r>
            <a:r>
              <a:rPr sz="1125" b="1" dirty="0" err="1">
                <a:solidFill>
                  <a:srgbClr val="11879A"/>
                </a:solidFill>
              </a:rPr>
              <a:t>用例板块</a:t>
            </a:r>
            <a:endParaRPr sz="1125" b="1" dirty="0">
              <a:solidFill>
                <a:srgbClr val="11879A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80AB32-1700-72A4-1EEF-BC8A85713430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lang="zh-CN" altLang="en-US" sz="2550" b="1" dirty="0">
                <a:solidFill>
                  <a:srgbClr val="102033"/>
                </a:solidFill>
              </a:rPr>
              <a:t>用例拆解：</a:t>
            </a:r>
            <a:r>
              <a:rPr lang="zh-CN" altLang="en-US" sz="2550" b="1" dirty="0"/>
              <a:t>管理员知识维护</a:t>
            </a:r>
            <a:endParaRPr sz="2550" b="1" dirty="0">
              <a:solidFill>
                <a:srgbClr val="102033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124A6A-8CFF-57E7-BC20-B3527BB35DD1}"/>
              </a:ext>
            </a:extLst>
          </p:cNvPr>
          <p:cNvSpPr>
            <a:spLocks noGrp="1"/>
          </p:cNvSpPr>
          <p:nvPr/>
        </p:nvSpPr>
        <p:spPr>
          <a:xfrm>
            <a:off x="590550" y="10096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8292A6"/>
                </a:solidFill>
              </a:defRPr>
            </a:pPr>
            <a:r>
              <a:rPr sz="1125" b="0">
                <a:solidFill>
                  <a:srgbClr val="8292A6"/>
                </a:solidFill>
              </a:rPr>
              <a:t>Use Cases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4CF691-8F5E-6D89-8FD3-501BC41508A0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 dirty="0">
                <a:solidFill>
                  <a:srgbClr val="8292A6"/>
                </a:solidFill>
              </a:rPr>
              <a:t>1</a:t>
            </a:r>
            <a:r>
              <a:rPr lang="en-US" sz="1350" b="1" dirty="0">
                <a:solidFill>
                  <a:srgbClr val="8292A6"/>
                </a:solidFill>
              </a:rPr>
              <a:t>4</a:t>
            </a:r>
            <a:endParaRPr sz="1350" b="1" dirty="0">
              <a:solidFill>
                <a:srgbClr val="8292A6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6F624D-E3B3-34F7-3F4A-6D0BF291BC9E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175E27F-06D8-5F98-84F0-0074FB5455D1}"/>
              </a:ext>
            </a:extLst>
          </p:cNvPr>
          <p:cNvSpPr>
            <a:spLocks noGrp="1"/>
          </p:cNvSpPr>
          <p:nvPr/>
        </p:nvSpPr>
        <p:spPr>
          <a:xfrm>
            <a:off x="590550" y="1476375"/>
            <a:ext cx="10934700" cy="4932713"/>
          </a:xfrm>
          <a:prstGeom prst="roundRect">
            <a:avLst>
              <a:gd name="adj" fmla="val 5022"/>
            </a:avLst>
          </a:prstGeom>
          <a:solidFill>
            <a:srgbClr val="F8FBFD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3BB836-EF09-4992-E9C9-632C1F382A27}"/>
              </a:ext>
            </a:extLst>
          </p:cNvPr>
          <p:cNvSpPr>
            <a:spLocks noGrp="1"/>
          </p:cNvSpPr>
          <p:nvPr/>
        </p:nvSpPr>
        <p:spPr>
          <a:xfrm>
            <a:off x="4986523" y="3213512"/>
            <a:ext cx="748999" cy="379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88" b="0">
                <a:solidFill>
                  <a:srgbClr val="1E293B"/>
                </a:solidFill>
              </a:defRPr>
            </a:pPr>
            <a:endParaRPr sz="788" b="0" dirty="0">
              <a:solidFill>
                <a:srgbClr val="1E293B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FCB952B-5ABB-CFF8-5F25-A0124C6D9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384666"/>
              </p:ext>
            </p:extLst>
          </p:nvPr>
        </p:nvGraphicFramePr>
        <p:xfrm>
          <a:off x="1159791" y="2006798"/>
          <a:ext cx="9415965" cy="384155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138655">
                  <a:extLst>
                    <a:ext uri="{9D8B030D-6E8A-4147-A177-3AD203B41FA5}">
                      <a16:colId xmlns:a16="http://schemas.microsoft.com/office/drawing/2014/main" val="3631884174"/>
                    </a:ext>
                  </a:extLst>
                </a:gridCol>
                <a:gridCol w="3138655">
                  <a:extLst>
                    <a:ext uri="{9D8B030D-6E8A-4147-A177-3AD203B41FA5}">
                      <a16:colId xmlns:a16="http://schemas.microsoft.com/office/drawing/2014/main" val="373697821"/>
                    </a:ext>
                  </a:extLst>
                </a:gridCol>
                <a:gridCol w="3138655">
                  <a:extLst>
                    <a:ext uri="{9D8B030D-6E8A-4147-A177-3AD203B41FA5}">
                      <a16:colId xmlns:a16="http://schemas.microsoft.com/office/drawing/2014/main" val="668410170"/>
                    </a:ext>
                  </a:extLst>
                </a:gridCol>
              </a:tblGrid>
              <a:tr h="284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用例编号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用例名称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说明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782676821"/>
                  </a:ext>
                </a:extLst>
              </a:tr>
              <a:tr h="7113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UC-A1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进入管理后台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管理员登录后，前端显示后台入口；后端接口统一经过 </a:t>
                      </a:r>
                      <a:r>
                        <a:rPr lang="en-US" sz="1400"/>
                        <a:t>require_admin </a:t>
                      </a:r>
                      <a:r>
                        <a:rPr lang="zh-CN" altLang="en-US" sz="1400"/>
                        <a:t>校验。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37614086"/>
                  </a:ext>
                </a:extLst>
              </a:tr>
              <a:tr h="7113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UC-A2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FAQ </a:t>
                      </a:r>
                      <a:r>
                        <a:rPr lang="zh-CN" altLang="en-US" sz="1400" dirty="0"/>
                        <a:t>维护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管理员可以新增、修改 </a:t>
                      </a:r>
                      <a:r>
                        <a:rPr lang="en-US" sz="1400"/>
                        <a:t>FAQ，</a:t>
                      </a:r>
                      <a:r>
                        <a:rPr lang="zh-CN" altLang="en-US" sz="1400"/>
                        <a:t>系统同步更新 </a:t>
                      </a:r>
                      <a:r>
                        <a:rPr lang="en-US" sz="1400"/>
                        <a:t>MySQL </a:t>
                      </a:r>
                      <a:r>
                        <a:rPr lang="zh-CN" altLang="en-US" sz="1400"/>
                        <a:t>与 </a:t>
                      </a:r>
                      <a:r>
                        <a:rPr lang="en-US" sz="1400"/>
                        <a:t>rag_faq。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230241033"/>
                  </a:ext>
                </a:extLst>
              </a:tr>
              <a:tr h="9248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UC-A3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资料库查看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管理员可以查看爬取文本块，并按 </a:t>
                      </a:r>
                      <a:r>
                        <a:rPr lang="en-US" sz="1400"/>
                        <a:t>rag_standard、rag_knowledge、rag_faq </a:t>
                      </a:r>
                      <a:r>
                        <a:rPr lang="zh-CN" altLang="en-US" sz="1400"/>
                        <a:t>等集合筛选。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608533931"/>
                  </a:ext>
                </a:extLst>
              </a:tr>
              <a:tr h="7113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UC-A4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网页爬取预览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输入 </a:t>
                      </a:r>
                      <a:r>
                        <a:rPr lang="en-US" altLang="zh-CN" sz="1400"/>
                        <a:t>URL </a:t>
                      </a:r>
                      <a:r>
                        <a:rPr lang="zh-CN" altLang="en-US" sz="1400"/>
                        <a:t>后，系统抽取文章链接、清洗正文、切块并分类，先返回预览结果。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098562212"/>
                  </a:ext>
                </a:extLst>
              </a:tr>
              <a:tr h="4979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UC-A5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编辑后入库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管理员可人工修改文本块，并选择公开或校内范围后保存入库。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582156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3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D081570C-FE45-4291-93E0-CDDDF0910818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>
                <a:solidFill>
                  <a:srgbClr val="11879A"/>
                </a:solidFill>
              </a:rPr>
              <a:t>03  业务流程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59F2A6-1A45-401A-88DA-A11A314244B3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02033"/>
                </a:solidFill>
              </a:defRPr>
            </a:pPr>
            <a:r>
              <a:rPr sz="2550" b="1">
                <a:solidFill>
                  <a:srgbClr val="102033"/>
                </a:solidFill>
              </a:rPr>
              <a:t>六个核心业务用例流程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548770-CCD5-467B-92DB-F667CCB635F5}"/>
              </a:ext>
            </a:extLst>
          </p:cNvPr>
          <p:cNvSpPr>
            <a:spLocks noGrp="1"/>
          </p:cNvSpPr>
          <p:nvPr/>
        </p:nvSpPr>
        <p:spPr>
          <a:xfrm>
            <a:off x="590550" y="10096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8292A6"/>
                </a:solidFill>
              </a:defRPr>
            </a:pPr>
            <a:r>
              <a:rPr sz="1125" b="0">
                <a:solidFill>
                  <a:srgbClr val="8292A6"/>
                </a:solidFill>
              </a:rPr>
              <a:t>Six Core Functional Flows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13BAB7-12B0-45DD-9BAA-19E3397557F0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 dirty="0">
                <a:solidFill>
                  <a:srgbClr val="8292A6"/>
                </a:solidFill>
              </a:rPr>
              <a:t>1</a:t>
            </a:r>
            <a:r>
              <a:rPr lang="en-US" sz="1350" b="1" dirty="0">
                <a:solidFill>
                  <a:srgbClr val="8292A6"/>
                </a:solidFill>
              </a:rPr>
              <a:t>5</a:t>
            </a:r>
            <a:endParaRPr sz="1350" b="1" dirty="0">
              <a:solidFill>
                <a:srgbClr val="8292A6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623478-C92F-4362-B5A0-6EAAE3EA0100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3D8E98C-D2C1-4784-B020-C915423D2C24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C37444-61FF-4A63-8862-D16310370DFF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879A"/>
                </a:solidFill>
              </a:defRPr>
            </a:pPr>
            <a:r>
              <a:rPr sz="1875" b="1">
                <a:solidFill>
                  <a:srgbClr val="11879A"/>
                </a:solidFill>
              </a:rPr>
              <a:t>UC1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B91B43-3E7A-44B8-A1EC-8547DE1DA751}"/>
              </a:ext>
            </a:extLst>
          </p:cNvPr>
          <p:cNvSpPr>
            <a:spLocks noGrp="1"/>
          </p:cNvSpPr>
          <p:nvPr/>
        </p:nvSpPr>
        <p:spPr>
          <a:xfrm>
            <a:off x="1847850" y="18859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公开问答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421C06-7E31-4DC6-9130-5C37ADE7CF91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2686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访客查询公开校务、校园简介和常见流程，命中后展示来源片段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5F3A081-AE92-410E-AB21-4C2A54E9D19B}"/>
              </a:ext>
            </a:extLst>
          </p:cNvPr>
          <p:cNvSpPr>
            <a:spLocks noGrp="1"/>
          </p:cNvSpPr>
          <p:nvPr/>
        </p:nvSpPr>
        <p:spPr>
          <a:xfrm>
            <a:off x="4514850" y="16764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ACA5B2-B196-4351-B8EB-0B3F3300E636}"/>
              </a:ext>
            </a:extLst>
          </p:cNvPr>
          <p:cNvSpPr>
            <a:spLocks noGrp="1"/>
          </p:cNvSpPr>
          <p:nvPr/>
        </p:nvSpPr>
        <p:spPr>
          <a:xfrm>
            <a:off x="4743450" y="18859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879A"/>
                </a:solidFill>
              </a:defRPr>
            </a:pPr>
            <a:r>
              <a:rPr sz="1875" b="1">
                <a:solidFill>
                  <a:srgbClr val="11879A"/>
                </a:solidFill>
              </a:rPr>
              <a:t>UC2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889308-6A0F-4CF1-BCD1-2C7C79C85985}"/>
              </a:ext>
            </a:extLst>
          </p:cNvPr>
          <p:cNvSpPr>
            <a:spLocks noGrp="1"/>
          </p:cNvSpPr>
          <p:nvPr/>
        </p:nvSpPr>
        <p:spPr>
          <a:xfrm>
            <a:off x="5638800" y="18859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师生问答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B560EF-8528-4005-9F00-50EE99AF8626}"/>
              </a:ext>
            </a:extLst>
          </p:cNvPr>
          <p:cNvSpPr>
            <a:spLocks noGrp="1"/>
          </p:cNvSpPr>
          <p:nvPr/>
        </p:nvSpPr>
        <p:spPr>
          <a:xfrm>
            <a:off x="4743450" y="2362200"/>
            <a:ext cx="2686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登录师生查询校内资料，并访问本人课程、成绩、学院和档案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60EB8F1-78DD-495C-BD41-E7481EFCA6D9}"/>
              </a:ext>
            </a:extLst>
          </p:cNvPr>
          <p:cNvSpPr>
            <a:spLocks noGrp="1"/>
          </p:cNvSpPr>
          <p:nvPr/>
        </p:nvSpPr>
        <p:spPr>
          <a:xfrm>
            <a:off x="8305800" y="16764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D8EBE0-7940-4701-BABB-E7C9758C8535}"/>
              </a:ext>
            </a:extLst>
          </p:cNvPr>
          <p:cNvSpPr>
            <a:spLocks noGrp="1"/>
          </p:cNvSpPr>
          <p:nvPr/>
        </p:nvSpPr>
        <p:spPr>
          <a:xfrm>
            <a:off x="8534400" y="18859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879A"/>
                </a:solidFill>
              </a:defRPr>
            </a:pPr>
            <a:r>
              <a:rPr sz="1875" b="1">
                <a:solidFill>
                  <a:srgbClr val="11879A"/>
                </a:solidFill>
              </a:rPr>
              <a:t>UC3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3F560F-0977-4922-BBD0-A3FB4953D7EC}"/>
              </a:ext>
            </a:extLst>
          </p:cNvPr>
          <p:cNvSpPr>
            <a:spLocks noGrp="1"/>
          </p:cNvSpPr>
          <p:nvPr/>
        </p:nvSpPr>
        <p:spPr>
          <a:xfrm>
            <a:off x="9429750" y="18859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LLM 补充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934E5E-77A6-47A5-BFAB-3E63DE6F49E7}"/>
              </a:ext>
            </a:extLst>
          </p:cNvPr>
          <p:cNvSpPr>
            <a:spLocks noGrp="1"/>
          </p:cNvSpPr>
          <p:nvPr/>
        </p:nvSpPr>
        <p:spPr>
          <a:xfrm>
            <a:off x="8534400" y="2362200"/>
            <a:ext cx="2686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声明不使用资料库或资料不足时，调用 LLM 并标注答案来源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9C7B609-3F1D-4CC4-A587-667D40E403FC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E6FAF5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3BF74B-8A45-4DEC-8204-EC1100D77CEF}"/>
              </a:ext>
            </a:extLst>
          </p:cNvPr>
          <p:cNvSpPr>
            <a:spLocks noGrp="1"/>
          </p:cNvSpPr>
          <p:nvPr/>
        </p:nvSpPr>
        <p:spPr>
          <a:xfrm>
            <a:off x="952500" y="40195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879A"/>
                </a:solidFill>
              </a:defRPr>
            </a:pPr>
            <a:r>
              <a:rPr sz="1875" b="1">
                <a:solidFill>
                  <a:srgbClr val="11879A"/>
                </a:solidFill>
              </a:rPr>
              <a:t>UC4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9E3B08-F0E4-4B3B-B8DB-C125AC081F06}"/>
              </a:ext>
            </a:extLst>
          </p:cNvPr>
          <p:cNvSpPr>
            <a:spLocks noGrp="1"/>
          </p:cNvSpPr>
          <p:nvPr/>
        </p:nvSpPr>
        <p:spPr>
          <a:xfrm>
            <a:off x="1847850" y="40195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后台维护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E2944E-ACA7-4731-B72F-C1B33031BB9E}"/>
              </a:ext>
            </a:extLst>
          </p:cNvPr>
          <p:cNvSpPr>
            <a:spLocks noGrp="1"/>
          </p:cNvSpPr>
          <p:nvPr/>
        </p:nvSpPr>
        <p:spPr>
          <a:xfrm>
            <a:off x="952500" y="4495800"/>
            <a:ext cx="2686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管理员维护 FAQ，爬取文章，预览编辑后选择范围并入库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B3A727C-281A-441A-88AF-57FCD89562C2}"/>
              </a:ext>
            </a:extLst>
          </p:cNvPr>
          <p:cNvSpPr>
            <a:spLocks noGrp="1"/>
          </p:cNvSpPr>
          <p:nvPr/>
        </p:nvSpPr>
        <p:spPr>
          <a:xfrm>
            <a:off x="4514850" y="38100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EAF2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98552B-59BD-4B85-97B2-A6B5769BE1DE}"/>
              </a:ext>
            </a:extLst>
          </p:cNvPr>
          <p:cNvSpPr>
            <a:spLocks noGrp="1"/>
          </p:cNvSpPr>
          <p:nvPr/>
        </p:nvSpPr>
        <p:spPr>
          <a:xfrm>
            <a:off x="4743450" y="40195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879A"/>
                </a:solidFill>
              </a:defRPr>
            </a:pPr>
            <a:r>
              <a:rPr sz="1875" b="1">
                <a:solidFill>
                  <a:srgbClr val="11879A"/>
                </a:solidFill>
              </a:rPr>
              <a:t>UC5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5D9548E-6E4D-4730-80AF-18C8E5F56CC4}"/>
              </a:ext>
            </a:extLst>
          </p:cNvPr>
          <p:cNvSpPr>
            <a:spLocks noGrp="1"/>
          </p:cNvSpPr>
          <p:nvPr/>
        </p:nvSpPr>
        <p:spPr>
          <a:xfrm>
            <a:off x="5638800" y="40195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来源追溯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5555DA1-D4E7-4CDF-B95B-46FAA8AD49FD}"/>
              </a:ext>
            </a:extLst>
          </p:cNvPr>
          <p:cNvSpPr>
            <a:spLocks noGrp="1"/>
          </p:cNvSpPr>
          <p:nvPr/>
        </p:nvSpPr>
        <p:spPr>
          <a:xfrm>
            <a:off x="4743450" y="4495800"/>
            <a:ext cx="2686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回答附带 origin、confidence、sources、snippet，支持查看片段与链接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99A3EFA-4F04-467A-BAF5-42CED1B0799F}"/>
              </a:ext>
            </a:extLst>
          </p:cNvPr>
          <p:cNvSpPr>
            <a:spLocks noGrp="1"/>
          </p:cNvSpPr>
          <p:nvPr/>
        </p:nvSpPr>
        <p:spPr>
          <a:xfrm>
            <a:off x="8305800" y="381000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FF4E6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80098D-C09A-4B28-9466-FED5E87B7B58}"/>
              </a:ext>
            </a:extLst>
          </p:cNvPr>
          <p:cNvSpPr>
            <a:spLocks noGrp="1"/>
          </p:cNvSpPr>
          <p:nvPr/>
        </p:nvSpPr>
        <p:spPr>
          <a:xfrm>
            <a:off x="8534400" y="4019550"/>
            <a:ext cx="80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1879A"/>
                </a:solidFill>
              </a:defRPr>
            </a:pPr>
            <a:r>
              <a:rPr sz="1875" b="1">
                <a:solidFill>
                  <a:srgbClr val="11879A"/>
                </a:solidFill>
              </a:rPr>
              <a:t>UC6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17FBF8-8F6A-4646-BC56-DC21FEE0E5F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1790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澄清与路由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055AA16-4527-4E9C-BF5D-2EE6BFF2D4A8}"/>
              </a:ext>
            </a:extLst>
          </p:cNvPr>
          <p:cNvSpPr>
            <a:spLocks noGrp="1"/>
          </p:cNvSpPr>
          <p:nvPr/>
        </p:nvSpPr>
        <p:spPr>
          <a:xfrm>
            <a:off x="8534400" y="4495800"/>
            <a:ext cx="2686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Qwen 先拆解意图；条件不足先澄清，复合问题分步处理</a:t>
            </a:r>
          </a:p>
        </p:txBody>
      </p:sp>
    </p:spTree>
    <p:extLst>
      <p:ext uri="{BB962C8B-B14F-4D97-AF65-F5344CB8AC3E}">
        <p14:creationId xmlns:p14="http://schemas.microsoft.com/office/powerpoint/2010/main" val="1205612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052D157-03FB-4D0D-9F57-64BD0E748B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0F6F85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8EA7EF-8070-4951-AA5F-761710389341}"/>
              </a:ext>
            </a:extLst>
          </p:cNvPr>
          <p:cNvSpPr>
            <a:spLocks noGrp="1"/>
          </p:cNvSpPr>
          <p:nvPr/>
        </p:nvSpPr>
        <p:spPr>
          <a:xfrm>
            <a:off x="819150" y="876300"/>
            <a:ext cx="1714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0" b="1">
                <a:solidFill>
                  <a:srgbClr val="36C7D6"/>
                </a:solidFill>
              </a:defRPr>
            </a:pPr>
            <a:r>
              <a:rPr sz="5400" b="1">
                <a:solidFill>
                  <a:srgbClr val="36C7D6"/>
                </a:solidFill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800E80-F534-481F-BC86-73E16A0E08E2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5905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lang="en-US" altLang="zh-CN" sz="3300" b="1" dirty="0">
                <a:solidFill>
                  <a:srgbClr val="FFFFFF"/>
                </a:solidFill>
              </a:rPr>
              <a:t>AI</a:t>
            </a:r>
            <a:r>
              <a:rPr lang="zh-CN" altLang="en-US" sz="3300" b="1" dirty="0">
                <a:solidFill>
                  <a:srgbClr val="FFFFFF"/>
                </a:solidFill>
              </a:rPr>
              <a:t>使用心得</a:t>
            </a:r>
            <a:endParaRPr sz="3300" b="1" dirty="0">
              <a:solidFill>
                <a:srgbClr val="FFFF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4BDC20-0C3C-43F0-AD75-5A221F862ECD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BBD5E1"/>
                </a:solidFill>
              </a:defRPr>
            </a:pPr>
            <a:r>
              <a:rPr sz="1275" b="0">
                <a:solidFill>
                  <a:srgbClr val="BBD5E1"/>
                </a:solidFill>
              </a:rPr>
              <a:t>SynapseQ Final Review</a:t>
            </a:r>
          </a:p>
        </p:txBody>
      </p:sp>
    </p:spTree>
    <p:extLst>
      <p:ext uri="{BB962C8B-B14F-4D97-AF65-F5344CB8AC3E}">
        <p14:creationId xmlns:p14="http://schemas.microsoft.com/office/powerpoint/2010/main" val="2051808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62DB-D7C8-4C7D-D569-B842D9C8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84A1CA1-90CB-39AD-42A9-1B9EF23B30B9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 dirty="0">
                <a:solidFill>
                  <a:srgbClr val="11879A"/>
                </a:solidFill>
              </a:rPr>
              <a:t>0</a:t>
            </a:r>
            <a:r>
              <a:rPr lang="en-US" sz="1125" b="1" dirty="0">
                <a:solidFill>
                  <a:srgbClr val="11879A"/>
                </a:solidFill>
              </a:rPr>
              <a:t>4</a:t>
            </a:r>
            <a:r>
              <a:rPr sz="1125" b="1" dirty="0">
                <a:solidFill>
                  <a:srgbClr val="11879A"/>
                </a:solidFill>
              </a:rPr>
              <a:t>  </a:t>
            </a:r>
            <a:r>
              <a:rPr lang="en-US" altLang="zh-CN" sz="1125" b="1" dirty="0">
                <a:solidFill>
                  <a:srgbClr val="11879A"/>
                </a:solidFill>
              </a:rPr>
              <a:t>AI</a:t>
            </a:r>
            <a:r>
              <a:rPr lang="zh-CN" altLang="en-US" sz="1125" b="1" dirty="0">
                <a:solidFill>
                  <a:srgbClr val="11879A"/>
                </a:solidFill>
              </a:rPr>
              <a:t>使用心得</a:t>
            </a:r>
            <a:endParaRPr sz="1125" b="1" dirty="0">
              <a:solidFill>
                <a:srgbClr val="11879A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EFB410-0C2B-C742-18C7-AFE5D648F636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lang="en-US" altLang="zh-CN" sz="2550" b="1" dirty="0">
                <a:solidFill>
                  <a:srgbClr val="102033"/>
                </a:solidFill>
              </a:rPr>
              <a:t>AI </a:t>
            </a:r>
            <a:r>
              <a:rPr lang="zh-CN" altLang="en-US" sz="2550" b="1" dirty="0">
                <a:solidFill>
                  <a:srgbClr val="102033"/>
                </a:solidFill>
              </a:rPr>
              <a:t>大模型在开发中的作用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697E41-6BDF-B1F6-9AB2-B74D80B93E12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>
                <a:solidFill>
                  <a:srgbClr val="8292A6"/>
                </a:solidFill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833BDB-1CD5-CD14-CC63-1573DEC85151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2474CC8-6B26-E7EF-6C72-C1F2FEA447D6}"/>
              </a:ext>
            </a:extLst>
          </p:cNvPr>
          <p:cNvSpPr>
            <a:spLocks noGrp="1"/>
          </p:cNvSpPr>
          <p:nvPr/>
        </p:nvSpPr>
        <p:spPr>
          <a:xfrm>
            <a:off x="704850" y="1740972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78A13B-E9FE-3F80-63A2-8BDCAF03F6B3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5542B2-3397-F3F6-B182-55331631044C}"/>
              </a:ext>
            </a:extLst>
          </p:cNvPr>
          <p:cNvSpPr>
            <a:spLocks noGrp="1"/>
          </p:cNvSpPr>
          <p:nvPr/>
        </p:nvSpPr>
        <p:spPr>
          <a:xfrm>
            <a:off x="1628775" y="20097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lang="zh-CN" altLang="en-US" sz="1575" b="1" dirty="0"/>
              <a:t>把精力转向架构判断</a:t>
            </a:r>
            <a:endParaRPr sz="1575" b="1" dirty="0">
              <a:solidFill>
                <a:srgbClr val="102033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D69798E-9F8A-BDA1-D316-AE0233FEA256}"/>
              </a:ext>
            </a:extLst>
          </p:cNvPr>
          <p:cNvSpPr>
            <a:spLocks noGrp="1"/>
          </p:cNvSpPr>
          <p:nvPr/>
        </p:nvSpPr>
        <p:spPr>
          <a:xfrm>
            <a:off x="933450" y="2419350"/>
            <a:ext cx="2705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lang="zh-CN" altLang="en-US" sz="1200" dirty="0"/>
              <a:t>开发重点从重复编码，转向权限边界、来源追溯、异常兜底和用户体验。</a:t>
            </a:r>
            <a:endParaRPr sz="1200" b="0" dirty="0">
              <a:solidFill>
                <a:srgbClr val="475569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69F1F3C-0B7D-0DAD-00E2-1067138AD1DC}"/>
              </a:ext>
            </a:extLst>
          </p:cNvPr>
          <p:cNvSpPr>
            <a:spLocks noGrp="1"/>
          </p:cNvSpPr>
          <p:nvPr/>
        </p:nvSpPr>
        <p:spPr>
          <a:xfrm>
            <a:off x="4514850" y="1733550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CCEDB1-E756-4BE3-197F-9B25AE742DDC}"/>
              </a:ext>
            </a:extLst>
          </p:cNvPr>
          <p:cNvSpPr>
            <a:spLocks noGrp="1"/>
          </p:cNvSpPr>
          <p:nvPr/>
        </p:nvSpPr>
        <p:spPr>
          <a:xfrm>
            <a:off x="4743450" y="19431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790025-C8DC-41A3-984D-655246A26485}"/>
              </a:ext>
            </a:extLst>
          </p:cNvPr>
          <p:cNvSpPr>
            <a:spLocks noGrp="1"/>
          </p:cNvSpPr>
          <p:nvPr/>
        </p:nvSpPr>
        <p:spPr>
          <a:xfrm>
            <a:off x="5486400" y="1943100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lang="zh-CN" altLang="en-US" sz="1575" b="1" dirty="0">
                <a:solidFill>
                  <a:srgbClr val="102033"/>
                </a:solidFill>
              </a:rPr>
              <a:t>辅助需求分析</a:t>
            </a:r>
            <a:endParaRPr sz="1575" b="1" dirty="0">
              <a:solidFill>
                <a:srgbClr val="102033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A5F2D-132E-9EC8-18A2-35168D7ED0A4}"/>
              </a:ext>
            </a:extLst>
          </p:cNvPr>
          <p:cNvSpPr>
            <a:spLocks noGrp="1"/>
          </p:cNvSpPr>
          <p:nvPr/>
        </p:nvSpPr>
        <p:spPr>
          <a:xfrm>
            <a:off x="4743450" y="2419350"/>
            <a:ext cx="2705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lang="zh-CN" altLang="en-US" sz="1200" dirty="0"/>
              <a:t>最初需求只是“校园知识问答”，</a:t>
            </a:r>
            <a:r>
              <a:rPr lang="en-US" altLang="zh-CN" sz="1200" dirty="0"/>
              <a:t>AI </a:t>
            </a:r>
            <a:r>
              <a:rPr lang="zh-CN" altLang="en-US" sz="1200" dirty="0"/>
              <a:t>分析后提示还需要考虑：</a:t>
            </a:r>
            <a:br>
              <a:rPr lang="zh-CN" altLang="en-US" sz="1200" dirty="0"/>
            </a:br>
            <a:r>
              <a:rPr lang="zh-CN" altLang="en-US" sz="1200" dirty="0"/>
              <a:t>权限隔离、来源追溯、资料不足处理、个人信息保护。</a:t>
            </a:r>
            <a:endParaRPr sz="1200" b="0" dirty="0">
              <a:solidFill>
                <a:srgbClr val="475569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8070917-C027-C756-A269-E49C6407AB75}"/>
              </a:ext>
            </a:extLst>
          </p:cNvPr>
          <p:cNvSpPr>
            <a:spLocks noGrp="1"/>
          </p:cNvSpPr>
          <p:nvPr/>
        </p:nvSpPr>
        <p:spPr>
          <a:xfrm>
            <a:off x="8324850" y="1733550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6C9E83-EC80-5719-6BF1-B692BFA9F7B9}"/>
              </a:ext>
            </a:extLst>
          </p:cNvPr>
          <p:cNvSpPr>
            <a:spLocks noGrp="1"/>
          </p:cNvSpPr>
          <p:nvPr/>
        </p:nvSpPr>
        <p:spPr>
          <a:xfrm>
            <a:off x="8553450" y="19431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1498EF-E3AC-88AC-DA6F-1FBFDF597CC9}"/>
              </a:ext>
            </a:extLst>
          </p:cNvPr>
          <p:cNvSpPr>
            <a:spLocks noGrp="1"/>
          </p:cNvSpPr>
          <p:nvPr/>
        </p:nvSpPr>
        <p:spPr>
          <a:xfrm>
            <a:off x="9296400" y="1943100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lang="zh-CN" altLang="en-US" sz="1575" b="1" dirty="0">
                <a:solidFill>
                  <a:srgbClr val="102033"/>
                </a:solidFill>
              </a:rPr>
              <a:t>完善项目功能</a:t>
            </a:r>
            <a:endParaRPr sz="1575" b="1" dirty="0">
              <a:solidFill>
                <a:srgbClr val="102033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758EEC-CB62-7057-AC8F-55B6036A1BD7}"/>
              </a:ext>
            </a:extLst>
          </p:cNvPr>
          <p:cNvSpPr>
            <a:spLocks noGrp="1"/>
          </p:cNvSpPr>
          <p:nvPr/>
        </p:nvSpPr>
        <p:spPr>
          <a:xfrm>
            <a:off x="8553450" y="2419350"/>
            <a:ext cx="2705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lang="zh-CN" altLang="en-US" sz="1200" dirty="0"/>
              <a:t>在基础 </a:t>
            </a:r>
            <a:r>
              <a:rPr lang="en-US" altLang="zh-CN" sz="1200" dirty="0"/>
              <a:t>RAG </a:t>
            </a:r>
            <a:r>
              <a:rPr lang="zh-CN" altLang="en-US" sz="1200" dirty="0"/>
              <a:t>问答外，补充 </a:t>
            </a:r>
            <a:r>
              <a:rPr lang="en-US" altLang="zh-CN" sz="1200" dirty="0"/>
              <a:t>FAQ </a:t>
            </a:r>
            <a:r>
              <a:rPr lang="zh-CN" altLang="en-US" sz="1200" dirty="0"/>
              <a:t>快速命中、个人数据查询、管理员维护和模型不可用降级方案。</a:t>
            </a:r>
            <a:endParaRPr sz="1200" b="0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263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0889-6F92-53B7-2DFB-6069AB6BD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3AF03B9-D97B-A502-6058-22292FBDBD95}"/>
              </a:ext>
            </a:extLst>
          </p:cNvPr>
          <p:cNvSpPr>
            <a:spLocks noGrp="1"/>
          </p:cNvSpPr>
          <p:nvPr/>
        </p:nvSpPr>
        <p:spPr>
          <a:xfrm>
            <a:off x="590550" y="3429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1879A"/>
                </a:solidFill>
              </a:defRPr>
            </a:pPr>
            <a:r>
              <a:rPr sz="1125" b="1" dirty="0">
                <a:solidFill>
                  <a:srgbClr val="11879A"/>
                </a:solidFill>
              </a:rPr>
              <a:t>0</a:t>
            </a:r>
            <a:r>
              <a:rPr lang="en-US" sz="1125" b="1" dirty="0">
                <a:solidFill>
                  <a:srgbClr val="11879A"/>
                </a:solidFill>
              </a:rPr>
              <a:t>4</a:t>
            </a:r>
            <a:r>
              <a:rPr sz="1125" b="1" dirty="0">
                <a:solidFill>
                  <a:srgbClr val="11879A"/>
                </a:solidFill>
              </a:rPr>
              <a:t>  </a:t>
            </a:r>
            <a:r>
              <a:rPr lang="en-US" altLang="zh-CN" sz="1125" b="1" dirty="0">
                <a:solidFill>
                  <a:srgbClr val="11879A"/>
                </a:solidFill>
              </a:rPr>
              <a:t>AI</a:t>
            </a:r>
            <a:r>
              <a:rPr lang="zh-CN" altLang="en-US" sz="1125" b="1" dirty="0">
                <a:solidFill>
                  <a:srgbClr val="11879A"/>
                </a:solidFill>
              </a:rPr>
              <a:t>使用心得</a:t>
            </a:r>
            <a:endParaRPr sz="1125" b="1" dirty="0">
              <a:solidFill>
                <a:srgbClr val="11879A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90A7D0-1888-06E0-55DE-305A45356867}"/>
              </a:ext>
            </a:extLst>
          </p:cNvPr>
          <p:cNvSpPr>
            <a:spLocks noGrp="1"/>
          </p:cNvSpPr>
          <p:nvPr/>
        </p:nvSpPr>
        <p:spPr>
          <a:xfrm>
            <a:off x="590550" y="59055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lang="en-US" altLang="zh-CN" sz="2550" b="1" dirty="0">
                <a:solidFill>
                  <a:srgbClr val="102033"/>
                </a:solidFill>
              </a:rPr>
              <a:t>AI </a:t>
            </a:r>
            <a:r>
              <a:rPr lang="zh-CN" altLang="en-US" sz="2550" b="1" dirty="0">
                <a:solidFill>
                  <a:srgbClr val="102033"/>
                </a:solidFill>
              </a:rPr>
              <a:t>使用体会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2142CC-3C58-7211-A82B-74CD6216CE1C}"/>
              </a:ext>
            </a:extLst>
          </p:cNvPr>
          <p:cNvSpPr>
            <a:spLocks noGrp="1"/>
          </p:cNvSpPr>
          <p:nvPr/>
        </p:nvSpPr>
        <p:spPr>
          <a:xfrm>
            <a:off x="11106150" y="361950"/>
            <a:ext cx="495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8292A6"/>
                </a:solidFill>
              </a:defRPr>
            </a:pPr>
            <a:r>
              <a:rPr sz="1350" b="1">
                <a:solidFill>
                  <a:srgbClr val="8292A6"/>
                </a:solidFill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01D99-0E3C-23A5-1DBA-D3F48FE7B863}"/>
              </a:ext>
            </a:extLst>
          </p:cNvPr>
          <p:cNvSpPr>
            <a:spLocks noGrp="1"/>
          </p:cNvSpPr>
          <p:nvPr/>
        </p:nvSpPr>
        <p:spPr>
          <a:xfrm>
            <a:off x="590550" y="1276350"/>
            <a:ext cx="11010900" cy="9525"/>
          </a:xfrm>
          <a:prstGeom prst="rect">
            <a:avLst/>
          </a:prstGeom>
          <a:solidFill>
            <a:srgbClr val="D8E4EC"/>
          </a:solidFill>
          <a:ln w="0">
            <a:noFill/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45AF5FF-3FC3-FBE4-160C-EA2980DA6F0A}"/>
              </a:ext>
            </a:extLst>
          </p:cNvPr>
          <p:cNvSpPr>
            <a:spLocks noGrp="1"/>
          </p:cNvSpPr>
          <p:nvPr/>
        </p:nvSpPr>
        <p:spPr>
          <a:xfrm>
            <a:off x="704850" y="1740972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290B93-8BDE-A903-7C95-0BFAB75976EC}"/>
              </a:ext>
            </a:extLst>
          </p:cNvPr>
          <p:cNvSpPr>
            <a:spLocks noGrp="1"/>
          </p:cNvSpPr>
          <p:nvPr/>
        </p:nvSpPr>
        <p:spPr>
          <a:xfrm>
            <a:off x="933450" y="19431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4F5BA1-94ED-A6FC-614E-4DA78CA9D849}"/>
              </a:ext>
            </a:extLst>
          </p:cNvPr>
          <p:cNvSpPr>
            <a:spLocks noGrp="1"/>
          </p:cNvSpPr>
          <p:nvPr/>
        </p:nvSpPr>
        <p:spPr>
          <a:xfrm>
            <a:off x="1628775" y="20097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lang="zh-CN" altLang="en-US" sz="1575" b="1" dirty="0"/>
              <a:t>小步修改，小步验证</a:t>
            </a:r>
            <a:endParaRPr sz="1575" b="1" dirty="0">
              <a:solidFill>
                <a:srgbClr val="102033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51B2B5-CADA-D79E-DDA5-DC4C42E4547F}"/>
              </a:ext>
            </a:extLst>
          </p:cNvPr>
          <p:cNvSpPr>
            <a:spLocks noGrp="1"/>
          </p:cNvSpPr>
          <p:nvPr/>
        </p:nvSpPr>
        <p:spPr>
          <a:xfrm>
            <a:off x="933450" y="2419350"/>
            <a:ext cx="2705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lang="zh-CN" altLang="en-US" sz="1600" dirty="0"/>
              <a:t>开发重点从重复编码，转向权限边界、来源追溯、异常兜底和用户体验。</a:t>
            </a:r>
            <a:endParaRPr sz="1600" b="0" dirty="0">
              <a:solidFill>
                <a:srgbClr val="475569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6F2CAB3-E1A5-C68C-9881-762EE9137535}"/>
              </a:ext>
            </a:extLst>
          </p:cNvPr>
          <p:cNvSpPr>
            <a:spLocks noGrp="1"/>
          </p:cNvSpPr>
          <p:nvPr/>
        </p:nvSpPr>
        <p:spPr>
          <a:xfrm>
            <a:off x="4514850" y="1696192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16604B-61A9-5392-4F4F-9D46AB73C3D6}"/>
              </a:ext>
            </a:extLst>
          </p:cNvPr>
          <p:cNvSpPr>
            <a:spLocks noGrp="1"/>
          </p:cNvSpPr>
          <p:nvPr/>
        </p:nvSpPr>
        <p:spPr>
          <a:xfrm>
            <a:off x="4743450" y="19431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64B650-141F-99AF-29AC-E68471554EF3}"/>
              </a:ext>
            </a:extLst>
          </p:cNvPr>
          <p:cNvSpPr>
            <a:spLocks noGrp="1"/>
          </p:cNvSpPr>
          <p:nvPr/>
        </p:nvSpPr>
        <p:spPr>
          <a:xfrm>
            <a:off x="5468339" y="1981200"/>
            <a:ext cx="213162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lang="zh-CN" altLang="en-US" sz="1575" b="1" dirty="0"/>
              <a:t>给出清晰的需求描述</a:t>
            </a:r>
            <a:endParaRPr sz="1575" b="1" dirty="0">
              <a:solidFill>
                <a:srgbClr val="102033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65CC9FD-1215-8ABE-FFEC-1A9576898A7A}"/>
              </a:ext>
            </a:extLst>
          </p:cNvPr>
          <p:cNvSpPr>
            <a:spLocks noGrp="1"/>
          </p:cNvSpPr>
          <p:nvPr/>
        </p:nvSpPr>
        <p:spPr>
          <a:xfrm>
            <a:off x="4743450" y="2419350"/>
            <a:ext cx="2705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lang="zh-CN" altLang="en-US" sz="1600" dirty="0"/>
              <a:t>明确说明要实现什么功能、面向什么用户、输入输出是什么，以及有哪些限制条件。</a:t>
            </a:r>
            <a:endParaRPr sz="1600" b="0" dirty="0">
              <a:solidFill>
                <a:srgbClr val="475569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EB6720C-824A-AAD9-60E6-F5416A1B2369}"/>
              </a:ext>
            </a:extLst>
          </p:cNvPr>
          <p:cNvSpPr>
            <a:spLocks noGrp="1"/>
          </p:cNvSpPr>
          <p:nvPr/>
        </p:nvSpPr>
        <p:spPr>
          <a:xfrm>
            <a:off x="8324850" y="1733550"/>
            <a:ext cx="31623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8E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2F500E-B47E-10F1-7C0A-A214E6A2CBF3}"/>
              </a:ext>
            </a:extLst>
          </p:cNvPr>
          <p:cNvSpPr>
            <a:spLocks noGrp="1"/>
          </p:cNvSpPr>
          <p:nvPr/>
        </p:nvSpPr>
        <p:spPr>
          <a:xfrm>
            <a:off x="8553450" y="19431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879A"/>
                </a:solidFill>
              </a:defRPr>
            </a:pPr>
            <a:r>
              <a:rPr sz="2250" b="1">
                <a:solidFill>
                  <a:srgbClr val="11879A"/>
                </a:solidFill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F1682A-E842-52C0-C441-31D810AFC5E1}"/>
              </a:ext>
            </a:extLst>
          </p:cNvPr>
          <p:cNvSpPr>
            <a:spLocks noGrp="1"/>
          </p:cNvSpPr>
          <p:nvPr/>
        </p:nvSpPr>
        <p:spPr>
          <a:xfrm>
            <a:off x="9161566" y="2011259"/>
            <a:ext cx="236516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02033"/>
                </a:solidFill>
              </a:defRPr>
            </a:pPr>
            <a:r>
              <a:rPr lang="zh-CN" altLang="en-US" sz="1575" b="1" dirty="0"/>
              <a:t>执行前先让 </a:t>
            </a:r>
            <a:r>
              <a:rPr lang="en-US" altLang="zh-CN" sz="1575" b="1" dirty="0"/>
              <a:t>AI </a:t>
            </a:r>
            <a:r>
              <a:rPr lang="zh-CN" altLang="en-US" sz="1575" b="1" dirty="0"/>
              <a:t>列出计划</a:t>
            </a:r>
            <a:endParaRPr sz="1575" b="1" dirty="0">
              <a:solidFill>
                <a:srgbClr val="102033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C5F2B0-0F11-9914-B0E6-BF24B9757690}"/>
              </a:ext>
            </a:extLst>
          </p:cNvPr>
          <p:cNvSpPr>
            <a:spLocks noGrp="1"/>
          </p:cNvSpPr>
          <p:nvPr/>
        </p:nvSpPr>
        <p:spPr>
          <a:xfrm>
            <a:off x="8553450" y="2419350"/>
            <a:ext cx="27051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rPr lang="zh-CN" altLang="en-US" sz="1600" dirty="0"/>
              <a:t>让 </a:t>
            </a:r>
            <a:r>
              <a:rPr lang="en-US" altLang="zh-CN" sz="1600" dirty="0"/>
              <a:t>AI </a:t>
            </a:r>
            <a:r>
              <a:rPr lang="zh-CN" altLang="en-US" sz="1600" dirty="0"/>
              <a:t>先说明实现步骤、涉及文件、可能风险，再决定是否开始修改或生成代码。</a:t>
            </a:r>
            <a:endParaRPr sz="1600" b="0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31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8C438A4-A251-4054-A732-29A7AF26AB8C}"/>
              </a:ext>
            </a:extLst>
          </p:cNvPr>
          <p:cNvSpPr>
            <a:spLocks noGrp="1"/>
          </p:cNvSpPr>
          <p:nvPr/>
        </p:nvSpPr>
        <p:spPr>
          <a:xfrm>
            <a:off x="800100" y="723900"/>
            <a:ext cx="495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SynapseQ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AA917E-0A6D-4070-8E66-BAB12F4CDA88}"/>
              </a:ext>
            </a:extLst>
          </p:cNvPr>
          <p:cNvSpPr>
            <a:spLocks noGrp="1"/>
          </p:cNvSpPr>
          <p:nvPr/>
        </p:nvSpPr>
        <p:spPr>
          <a:xfrm>
            <a:off x="3385457" y="2176895"/>
            <a:ext cx="5421086" cy="1675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FFFFFF"/>
                </a:solidFill>
              </a:defRPr>
            </a:pPr>
            <a:r>
              <a:rPr sz="9600" b="1" dirty="0" err="1">
                <a:solidFill>
                  <a:srgbClr val="FFFFFF"/>
                </a:solidFill>
              </a:rPr>
              <a:t>感谢聆听</a:t>
            </a:r>
            <a:endParaRPr sz="9600" b="1" dirty="0">
              <a:solidFill>
                <a:srgbClr val="FFFF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9BEB39-C784-4899-8E88-3C41DDE130B3}"/>
              </a:ext>
            </a:extLst>
          </p:cNvPr>
          <p:cNvSpPr>
            <a:spLocks noGrp="1"/>
          </p:cNvSpPr>
          <p:nvPr/>
        </p:nvSpPr>
        <p:spPr>
          <a:xfrm>
            <a:off x="4120985" y="4157351"/>
            <a:ext cx="3950030" cy="685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36C7D6"/>
                </a:solidFill>
              </a:defRPr>
            </a:pPr>
            <a:r>
              <a:rPr lang="en-US" altLang="zh-CN" sz="3600" b="1" dirty="0">
                <a:solidFill>
                  <a:srgbClr val="36C7D6"/>
                </a:solidFill>
              </a:rPr>
              <a:t>Thanks for listening</a:t>
            </a:r>
            <a:endParaRPr sz="3600" b="1" dirty="0">
              <a:solidFill>
                <a:srgbClr val="36C7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893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983</Words>
  <Application>Microsoft Office PowerPoint</Application>
  <DocSecurity>0</DocSecurity>
  <PresentationFormat>宽屏</PresentationFormat>
  <Paragraphs>201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9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Dangerous Lee</cp:lastModifiedBy>
  <cp:revision>31</cp:revision>
  <dcterms:created xsi:type="dcterms:W3CDTF">2026-06-17T13:59:39Z</dcterms:created>
  <dcterms:modified xsi:type="dcterms:W3CDTF">2026-06-25T10:39:38Z</dcterms:modified>
</cp:coreProperties>
</file>